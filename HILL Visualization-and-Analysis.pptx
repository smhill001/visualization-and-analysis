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80" r:id="rId3"/>
    <p:sldId id="281" r:id="rId4"/>
    <p:sldId id="282" r:id="rId5"/>
    <p:sldId id="284" r:id="rId6"/>
    <p:sldId id="283" r:id="rId7"/>
    <p:sldId id="287" r:id="rId8"/>
    <p:sldId id="285" r:id="rId9"/>
    <p:sldId id="288" r:id="rId10"/>
    <p:sldId id="289" r:id="rId11"/>
    <p:sldId id="286" r:id="rId12"/>
    <p:sldId id="270" r:id="rId13"/>
    <p:sldId id="278" r:id="rId14"/>
    <p:sldId id="279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2D57"/>
    <a:srgbClr val="29A560"/>
    <a:srgbClr val="C39F7B"/>
    <a:srgbClr val="999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2290C8-3594-75B9-C228-1FB088F39310}"/>
              </a:ext>
            </a:extLst>
          </p:cNvPr>
          <p:cNvSpPr/>
          <p:nvPr userDrawn="1"/>
        </p:nvSpPr>
        <p:spPr>
          <a:xfrm>
            <a:off x="0" y="0"/>
            <a:ext cx="12192000" cy="68127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178A7-47D8-D39F-B170-36561794A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1116" y="136525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rgbClr val="C39F7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728F9-D36E-CC22-1454-1E78757B3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7158" y="4700336"/>
            <a:ext cx="9144000" cy="1356895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39F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32E1-E1B4-59DB-CB23-51962426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29A560"/>
                </a:solidFill>
              </a:defRPr>
            </a:lvl1pPr>
          </a:lstStyle>
          <a:p>
            <a:fld id="{2A0475B1-2A06-45FA-9BF2-83FCC5B5C656}" type="datetimeFigureOut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B90A5-6421-B05A-9CD7-975972AFA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9A5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2C8CE-99FB-0CAB-E13C-69A73887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6474" y="6356350"/>
            <a:ext cx="487326" cy="365125"/>
          </a:xfrm>
        </p:spPr>
        <p:txBody>
          <a:bodyPr/>
          <a:lstStyle>
            <a:lvl1pPr>
              <a:defRPr>
                <a:solidFill>
                  <a:srgbClr val="29A560"/>
                </a:solidFill>
              </a:defRPr>
            </a:lvl1pPr>
          </a:lstStyle>
          <a:p>
            <a:fld id="{2F55716D-4740-43CF-AD10-2FD51523E13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139EA428-E09E-077F-8253-6A3B9FC618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2" y="82299"/>
            <a:ext cx="2374232" cy="237423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45C0507-F789-37EE-39FC-B89BF574A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0" t="16892" r="17746" b="13643"/>
          <a:stretch>
            <a:fillRect/>
          </a:stretch>
        </p:blipFill>
        <p:spPr bwMode="auto">
          <a:xfrm>
            <a:off x="288758" y="2660650"/>
            <a:ext cx="2664285" cy="187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lanet in space with planets and stars&#10;&#10;AI-generated content may be incorrect.">
            <a:extLst>
              <a:ext uri="{FF2B5EF4-FFF2-40B4-BE49-F238E27FC236}">
                <a16:creationId xmlns:a16="http://schemas.microsoft.com/office/drawing/2014/main" id="{9F5C28A2-E5D6-A7D0-3C47-F70EDCB0462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761" y="2664348"/>
            <a:ext cx="2508892" cy="1883656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3D8627B-DF7F-3015-5B55-4F5FFAC611D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1" r="8501"/>
          <a:stretch>
            <a:fillRect/>
          </a:stretch>
        </p:blipFill>
        <p:spPr bwMode="auto">
          <a:xfrm>
            <a:off x="5703371" y="2664348"/>
            <a:ext cx="2819402" cy="191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65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274C-E496-4C07-A5F5-A0632931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848" y="292608"/>
            <a:ext cx="10360152" cy="1033272"/>
          </a:xfrm>
          <a:solidFill>
            <a:srgbClr val="022D57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DAEA8-9FF2-CFD5-80C7-F0FA44260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8"/>
            <a:ext cx="10515600" cy="4645875"/>
          </a:xfrm>
        </p:spPr>
        <p:txBody>
          <a:bodyPr/>
          <a:lstStyle>
            <a:lvl1pPr>
              <a:defRPr>
                <a:solidFill>
                  <a:srgbClr val="022D57"/>
                </a:solidFill>
              </a:defRPr>
            </a:lvl1pPr>
            <a:lvl2pPr>
              <a:defRPr>
                <a:solidFill>
                  <a:srgbClr val="022D57"/>
                </a:solidFill>
              </a:defRPr>
            </a:lvl2pPr>
            <a:lvl3pPr>
              <a:defRPr>
                <a:solidFill>
                  <a:srgbClr val="022D57"/>
                </a:solidFill>
              </a:defRPr>
            </a:lvl3pPr>
            <a:lvl4pPr>
              <a:defRPr>
                <a:solidFill>
                  <a:srgbClr val="022D57"/>
                </a:solidFill>
              </a:defRPr>
            </a:lvl4pPr>
            <a:lvl5pPr>
              <a:defRPr>
                <a:solidFill>
                  <a:srgbClr val="022D5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10868-3DA0-8233-7F29-7C685335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9B273-8194-B4A9-BE63-4CA588281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8327E-F217-F62A-743D-CD95F816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0530" y="6356350"/>
            <a:ext cx="643270" cy="365125"/>
          </a:xfrm>
        </p:spPr>
        <p:txBody>
          <a:bodyPr/>
          <a:lstStyle>
            <a:lvl1pPr>
              <a:defRPr>
                <a:solidFill>
                  <a:srgbClr val="022D57"/>
                </a:solidFill>
              </a:defRPr>
            </a:lvl1pPr>
          </a:lstStyle>
          <a:p>
            <a:fld id="{2F55716D-4740-43CF-AD10-2FD51523E13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A21FD-D8D1-FA65-35C1-E76B0C181444}"/>
              </a:ext>
            </a:extLst>
          </p:cNvPr>
          <p:cNvSpPr/>
          <p:nvPr userDrawn="1"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1A0A1777-9D6E-3863-9F07-E19A3F232E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1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162C-48F7-ADEA-9431-F5D881AC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BB96F-D745-9DD2-1DEF-59E1A3F5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BCA2B-0BC5-00D6-C756-44A9198C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92D49-0FB8-B23B-67D5-7B7C0B3B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4755A-BBF8-894A-8D1E-B1AF7054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8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EFB7-F6AF-5D56-4399-6835F997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E9232-5DD1-879C-233D-848138757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C0460-F144-FBE0-705E-AD2DC40F7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B9DE8-0737-F9DC-FB1F-7B7E60FC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8345B-04C0-4DFF-2BF6-2EF19AB9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FF505-194B-C19B-92C8-60EB9B50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0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6CB0-E5D3-899E-A921-B19C7942F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848" y="289252"/>
            <a:ext cx="10360152" cy="1033272"/>
          </a:xfrm>
          <a:solidFill>
            <a:srgbClr val="022D57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rgbClr val="C39F7B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4399D-A56C-1358-4257-A76D3A834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318C2-3FCA-FB82-3FE8-92D9006E5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AE738F-A31A-43FC-C6F3-DCE07B31A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BCE8B-81EA-BEB3-7C34-6D39E8809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6DADA-25DC-4171-DBFD-8970AD56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579D84-FD68-24D6-81A7-B87C72EA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999BA-7CCF-7F00-2CA8-4D6DE4A1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F924C-35EA-AD01-3907-F2EF7DDBEC1D}"/>
              </a:ext>
            </a:extLst>
          </p:cNvPr>
          <p:cNvSpPr/>
          <p:nvPr userDrawn="1"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D4752E88-BD46-83A0-67EF-1B6B897543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0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7B41-5DA8-CAA7-BCAD-AE170A23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2D370-A9AE-5C7E-33B4-B3760D59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5097B-D522-32DE-D747-527168EE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FE972-92BA-7AB4-3C7D-37381DC2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3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305E8-E3AB-9074-37AF-D34E7C541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2FC60-240F-8F51-EF7C-FE7234C1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AA420-725B-A30B-0DCF-391855EC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6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7AD8-AC61-3BD2-8A91-6091C3BEF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635BE-ED4F-E8D2-9788-621EA1BEC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606C5-67A0-7698-9CD9-0D695FDE1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63E75-CABF-179B-5D68-F78C25EF1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8E520-53A4-7FD4-87EF-9A2ED47D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00AD5-5617-41F6-526A-524C66BE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5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6329-4134-7CE6-078E-AF1C3322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CEB47-410D-D34C-5E0D-62FCE91B7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E36F6-42B9-7A6B-C7B8-817369E04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15322-B0CF-9E0A-1B75-82EECFC0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97721-D3BC-AFEA-0F93-CD4FE097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F9EFD-00FD-6E66-BEFA-6756DD90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47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BC60-74D9-C4EC-ED1D-79E3252F6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B1050-6F47-5E49-3EDA-E0A035021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00B6F-A046-8AE9-67C3-04BD107D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B5165-F783-A732-48C0-AE76284CC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633E7-CDF5-3D44-65C9-8AFAEA89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7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BE914-DE46-C811-5F5D-58C07C42E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B98EE-D6B8-8874-136C-027CB9EB3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BA9F6-83CF-414A-4F87-578BC48E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F49CC-671F-532E-A7AA-E24537E82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69869-C613-1C37-1BDC-0B00964E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3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9B21ED-82C4-9D45-235C-E73C91453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454EA-76C8-D3A9-14B6-CE98263B2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E5CD2-8739-2C95-1D19-07D82C0C1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475B1-2A06-45FA-9BF2-83FCC5B5C65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E8B02-A99B-54A2-03FE-72A7EC0D5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9F3A9-9E27-2B46-E15E-73162F144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5716D-4740-43CF-AD10-2FD51523E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6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>
          <a:solidFill>
            <a:srgbClr val="C39F7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B854-F8EE-89EC-0852-A422CC11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254D-6568-A00E-3AE6-59BF2BD52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Visualization and Analysis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302C8-74B9-49A4-9143-767991E6F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91800" cy="473466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22D57"/>
                </a:solidFill>
              </a:rPr>
              <a:t>This describes the Visualization-and-Analysis Project and Git repo</a:t>
            </a:r>
          </a:p>
          <a:p>
            <a:r>
              <a:rPr lang="en-US" sz="2400" dirty="0">
                <a:solidFill>
                  <a:srgbClr val="022D57"/>
                </a:solidFill>
              </a:rPr>
              <a:t>Three data versions: 1, 2, ‘H’</a:t>
            </a:r>
          </a:p>
          <a:p>
            <a:r>
              <a:rPr lang="en-US" sz="2400" dirty="0">
                <a:solidFill>
                  <a:srgbClr val="022D57"/>
                </a:solidFill>
              </a:rPr>
              <a:t>What are the current GitHub branches?</a:t>
            </a:r>
          </a:p>
          <a:p>
            <a:r>
              <a:rPr lang="en-US" sz="2400" dirty="0">
                <a:solidFill>
                  <a:srgbClr val="022D57"/>
                </a:solidFill>
              </a:rPr>
              <a:t>Major Functions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Map Visualization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Meridional (latitudinal) analysis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Zonal (longitudinal) analysis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Extrema identification and analysis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Region of interest analysis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Threshold segmentation and analysis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ML Analysis – unsupervised Gaussian Mixture Model (GMM)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Supporting functions (FITS reading, catalog support)</a:t>
            </a:r>
          </a:p>
          <a:p>
            <a:pPr lvl="1"/>
            <a:endParaRPr lang="en-US" sz="1200" dirty="0">
              <a:solidFill>
                <a:srgbClr val="022D57"/>
              </a:solidFill>
            </a:endParaRPr>
          </a:p>
          <a:p>
            <a:pPr lvl="2"/>
            <a:endParaRPr lang="en-US" sz="1600" dirty="0">
              <a:solidFill>
                <a:srgbClr val="022D57"/>
              </a:solidFill>
            </a:endParaRPr>
          </a:p>
          <a:p>
            <a:endParaRPr lang="en-US" sz="2400" i="1" dirty="0">
              <a:solidFill>
                <a:srgbClr val="022D5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3DE230-A1BA-5CDB-BE68-FA8A64C84741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81B280E5-2F67-88B6-3375-FF1E2064F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8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947FF-29D9-2B33-5FA7-A891965B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790CA-4DCC-ADA9-7E41-1C49279D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Map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E869-CC2E-91E3-D9FD-53E09033A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94884"/>
            <a:ext cx="10591800" cy="496540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22D57"/>
                </a:solidFill>
              </a:rPr>
              <a:t>Visualization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Primary f</a:t>
            </a:r>
            <a:r>
              <a:rPr lang="en-US" sz="2000" baseline="-25000" dirty="0">
                <a:solidFill>
                  <a:srgbClr val="022D57"/>
                </a:solidFill>
              </a:rPr>
              <a:t>NH3</a:t>
            </a:r>
            <a:r>
              <a:rPr lang="en-US" sz="2000" dirty="0">
                <a:solidFill>
                  <a:srgbClr val="022D57"/>
                </a:solidFill>
              </a:rPr>
              <a:t> and </a:t>
            </a:r>
            <a:r>
              <a:rPr lang="en-US" sz="2000" dirty="0" err="1">
                <a:solidFill>
                  <a:srgbClr val="022D57"/>
                </a:solidFill>
              </a:rPr>
              <a:t>P</a:t>
            </a:r>
            <a:r>
              <a:rPr lang="en-US" sz="2000" baseline="-25000" dirty="0" err="1">
                <a:solidFill>
                  <a:srgbClr val="022D57"/>
                </a:solidFill>
              </a:rPr>
              <a:t>Cld</a:t>
            </a:r>
            <a:r>
              <a:rPr lang="en-US" sz="2000" dirty="0">
                <a:solidFill>
                  <a:srgbClr val="022D57"/>
                </a:solidFill>
              </a:rPr>
              <a:t> Data – 3 types: Version 1 SCT, Version 2 SCT, HST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Primary tricolor context imaging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Secondary data maps (889 CH</a:t>
            </a:r>
            <a:r>
              <a:rPr lang="en-US" sz="2000" baseline="-25000" dirty="0">
                <a:solidFill>
                  <a:srgbClr val="022D57"/>
                </a:solidFill>
              </a:rPr>
              <a:t>4</a:t>
            </a:r>
            <a:r>
              <a:rPr lang="en-US" sz="2000" dirty="0">
                <a:solidFill>
                  <a:srgbClr val="022D57"/>
                </a:solidFill>
              </a:rPr>
              <a:t>, 5-μm)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3D surface map plots</a:t>
            </a:r>
          </a:p>
          <a:p>
            <a:r>
              <a:rPr lang="en-US" sz="2400" dirty="0">
                <a:solidFill>
                  <a:srgbClr val="022D57"/>
                </a:solidFill>
              </a:rPr>
              <a:t>Supporting information and functions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Color bars and adjustable scales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Contour overplotting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Global data statistics</a:t>
            </a:r>
          </a:p>
          <a:p>
            <a:r>
              <a:rPr lang="en-US" sz="2400" dirty="0">
                <a:solidFill>
                  <a:srgbClr val="022D57"/>
                </a:solidFill>
              </a:rPr>
              <a:t>Primary calls from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L3_Jup_Map_Plot_V2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L4_Jup_Map_Plot_V2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L4_map_script</a:t>
            </a:r>
          </a:p>
          <a:p>
            <a:r>
              <a:rPr lang="en-US" sz="2400" dirty="0">
                <a:solidFill>
                  <a:srgbClr val="022D57"/>
                </a:solidFill>
              </a:rPr>
              <a:t>Configurable file output directory</a:t>
            </a:r>
          </a:p>
          <a:p>
            <a:endParaRPr lang="en-US" sz="2400" dirty="0">
              <a:solidFill>
                <a:srgbClr val="022D57"/>
              </a:solidFill>
            </a:endParaRPr>
          </a:p>
          <a:p>
            <a:endParaRPr lang="en-US" sz="2400" i="1" dirty="0">
              <a:solidFill>
                <a:srgbClr val="022D5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6FEA2-E0A3-AFAE-93BE-200E11AA02CF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04D40366-D3DE-2946-D989-2456A1B30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6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DF76-5ABE-742C-2D65-1BDEADB6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0DDE-DB60-AF73-0C7C-25D7D759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Meridional and Zonal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59EF8-E71D-DBEE-7A67-94566A0F8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91800" cy="473466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22D57"/>
                </a:solidFill>
              </a:rPr>
              <a:t>Meridional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Scatter plotting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Meridional profiles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Trending of zones over time (scatter plots)</a:t>
            </a:r>
          </a:p>
          <a:p>
            <a:r>
              <a:rPr lang="en-US" sz="2400" dirty="0">
                <a:solidFill>
                  <a:srgbClr val="022D57"/>
                </a:solidFill>
              </a:rPr>
              <a:t>Zonal profile plotting with application to equatorial waves</a:t>
            </a:r>
          </a:p>
          <a:p>
            <a:pPr lvl="1"/>
            <a:r>
              <a:rPr lang="en-US" sz="2000" dirty="0">
                <a:solidFill>
                  <a:srgbClr val="022D57"/>
                </a:solidFill>
              </a:rPr>
              <a:t>Autocorrelation</a:t>
            </a:r>
          </a:p>
          <a:p>
            <a:endParaRPr lang="en-US" sz="1600" dirty="0">
              <a:solidFill>
                <a:srgbClr val="022D57"/>
              </a:solidFill>
            </a:endParaRPr>
          </a:p>
          <a:p>
            <a:pPr lvl="2"/>
            <a:endParaRPr lang="en-US" sz="1600" dirty="0">
              <a:solidFill>
                <a:srgbClr val="022D57"/>
              </a:solidFill>
            </a:endParaRPr>
          </a:p>
          <a:p>
            <a:endParaRPr lang="en-US" sz="2400" i="1" dirty="0">
              <a:solidFill>
                <a:srgbClr val="022D5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C83511-AF31-67AC-9246-330A8A46B1C1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31350702-4003-1C80-2536-D5A5DA29B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5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08B1-F490-1971-C372-E167EA1A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1126-BF37-F2E6-D0A7-67F40E3A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Local Extrema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DCA26-8902-B8A0-47E2-ADE4518EC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91800" cy="473466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22D57"/>
                </a:solidFill>
              </a:rPr>
              <a:t>Identification of local extrema</a:t>
            </a:r>
          </a:p>
          <a:p>
            <a:endParaRPr lang="en-US" sz="1600" dirty="0">
              <a:solidFill>
                <a:srgbClr val="022D57"/>
              </a:solidFill>
            </a:endParaRPr>
          </a:p>
          <a:p>
            <a:pPr lvl="2"/>
            <a:endParaRPr lang="en-US" sz="1600" dirty="0">
              <a:solidFill>
                <a:srgbClr val="022D57"/>
              </a:solidFill>
            </a:endParaRPr>
          </a:p>
          <a:p>
            <a:endParaRPr lang="en-US" sz="2400" i="1" dirty="0">
              <a:solidFill>
                <a:srgbClr val="022D5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CBE650-BC4D-4D0D-BBD4-4859C4C6C4F8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B011AF22-EAB1-CE12-5BE2-0D10A2718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9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37F08-4E00-ADE8-E79C-E5D59EB78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D700-566D-A10D-D790-BF51FEF0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Region of Interest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12DC6-F505-13D2-5BDC-756D0F193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91800" cy="473466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22D57"/>
                </a:solidFill>
              </a:rPr>
              <a:t>Regions of interest</a:t>
            </a:r>
          </a:p>
          <a:p>
            <a:endParaRPr lang="en-US" sz="1600" dirty="0">
              <a:solidFill>
                <a:srgbClr val="022D57"/>
              </a:solidFill>
            </a:endParaRPr>
          </a:p>
          <a:p>
            <a:pPr lvl="2"/>
            <a:endParaRPr lang="en-US" sz="1600" dirty="0">
              <a:solidFill>
                <a:srgbClr val="022D57"/>
              </a:solidFill>
            </a:endParaRPr>
          </a:p>
          <a:p>
            <a:endParaRPr lang="en-US" sz="2400" i="1" dirty="0">
              <a:solidFill>
                <a:srgbClr val="022D5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8381BB-FFFB-556D-5072-7B512FC0FDFA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EA839487-526B-5E42-81F7-D0C44F620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7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0C0F9-7981-18D3-8D3B-208D1945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8DC32-E28B-DB8A-4F96-F60A375C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Threshold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641FF-7752-8CE0-1C8C-DA05F22A2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91800" cy="473466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22D57"/>
                </a:solidFill>
              </a:rPr>
              <a:t>Threshold segmentation (‘blob’ detection)</a:t>
            </a:r>
          </a:p>
          <a:p>
            <a:endParaRPr lang="en-US" sz="1600" dirty="0">
              <a:solidFill>
                <a:srgbClr val="022D57"/>
              </a:solidFill>
            </a:endParaRPr>
          </a:p>
          <a:p>
            <a:pPr lvl="2"/>
            <a:endParaRPr lang="en-US" sz="1600" dirty="0">
              <a:solidFill>
                <a:srgbClr val="022D57"/>
              </a:solidFill>
            </a:endParaRPr>
          </a:p>
          <a:p>
            <a:endParaRPr lang="en-US" sz="2400" i="1" dirty="0">
              <a:solidFill>
                <a:srgbClr val="022D5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B0C6C8-3E79-263C-7778-2B84FD3B8B44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69C5B07F-B162-00AF-3A79-F72D193FE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5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B078-9CCB-33DA-353C-C0DC5DD8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3F7C2-FAFE-9031-17FF-D39A449F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ML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E3F-9EC9-462F-AC14-579612FD3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91800" cy="473466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22D57"/>
                </a:solidFill>
              </a:rPr>
              <a:t>Gaussian Mixture Model</a:t>
            </a:r>
            <a:endParaRPr lang="en-US" sz="1600" dirty="0">
              <a:solidFill>
                <a:srgbClr val="022D57"/>
              </a:solidFill>
            </a:endParaRPr>
          </a:p>
          <a:p>
            <a:pPr lvl="2"/>
            <a:endParaRPr lang="en-US" sz="1600" dirty="0">
              <a:solidFill>
                <a:srgbClr val="022D57"/>
              </a:solidFill>
            </a:endParaRPr>
          </a:p>
          <a:p>
            <a:endParaRPr lang="en-US" sz="2400" i="1" dirty="0">
              <a:solidFill>
                <a:srgbClr val="022D5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0BF9A5-039E-41FE-371D-50A7AFDDAFC7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F031D472-61E8-7FD0-B03B-78FE5BDF8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24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422A-A09D-E899-54D2-138066AD6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Top-Level Calling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F73FA-0364-045E-801F-972690EFC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8"/>
            <a:ext cx="4858751" cy="5064783"/>
          </a:xfrm>
        </p:spPr>
        <p:txBody>
          <a:bodyPr>
            <a:noAutofit/>
          </a:bodyPr>
          <a:lstStyle/>
          <a:p>
            <a:r>
              <a:rPr lang="en-US" sz="2400" dirty="0"/>
              <a:t>All visualization and analysis functions can (or should be) callable from L4_map_scripy to run in a ‘batch’ mode</a:t>
            </a:r>
          </a:p>
          <a:p>
            <a:r>
              <a:rPr lang="en-US" sz="2400" dirty="0"/>
              <a:t>It’s possible to make the L4 maps as well using this script, but that is a dependency on another project/repo</a:t>
            </a:r>
          </a:p>
          <a:p>
            <a:r>
              <a:rPr lang="en-US" sz="2400" dirty="0">
                <a:solidFill>
                  <a:srgbClr val="FF0000"/>
                </a:solidFill>
              </a:rPr>
              <a:t>L4 map functions should work on L3 files as well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5D3435-F86E-61C4-699C-631907598578}"/>
              </a:ext>
            </a:extLst>
          </p:cNvPr>
          <p:cNvSpPr/>
          <p:nvPr/>
        </p:nvSpPr>
        <p:spPr>
          <a:xfrm>
            <a:off x="7404436" y="1440180"/>
            <a:ext cx="2944368" cy="62068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dirty="0"/>
              <a:t>L4_map_script.py</a:t>
            </a:r>
          </a:p>
          <a:p>
            <a:pPr lvl="1"/>
            <a:r>
              <a:rPr lang="en-US" sz="1400" dirty="0"/>
              <a:t>L4_map_script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983044-7569-083B-B671-810478ACCD99}"/>
              </a:ext>
            </a:extLst>
          </p:cNvPr>
          <p:cNvSpPr/>
          <p:nvPr/>
        </p:nvSpPr>
        <p:spPr>
          <a:xfrm>
            <a:off x="5792692" y="2746456"/>
            <a:ext cx="2944368" cy="1844594"/>
          </a:xfrm>
          <a:prstGeom prst="roundRect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make_L4_cont_maps.py</a:t>
            </a:r>
          </a:p>
          <a:p>
            <a:pPr lvl="1"/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blendstack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make_map_frame_lims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make_5u_cont_map</a:t>
            </a:r>
          </a:p>
          <a:p>
            <a:pPr lvl="1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createL4FileName</a:t>
            </a:r>
          </a:p>
          <a:p>
            <a:pPr lvl="1"/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write_fits_contiguous_map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make_L4_cont_maps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02711A3-5A28-702E-319B-0F193FD1992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7727951" y="1597787"/>
            <a:ext cx="685594" cy="1611744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469959-D9C5-CA8D-A18E-B0CD47079E02}"/>
              </a:ext>
            </a:extLst>
          </p:cNvPr>
          <p:cNvSpPr/>
          <p:nvPr/>
        </p:nvSpPr>
        <p:spPr>
          <a:xfrm>
            <a:off x="8971870" y="2746456"/>
            <a:ext cx="2945350" cy="2446966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dirty="0"/>
              <a:t>L4_Jup_Map_Plot_V2.py</a:t>
            </a:r>
          </a:p>
          <a:p>
            <a:pPr lvl="1"/>
            <a:r>
              <a:rPr lang="en-US" sz="1400" dirty="0" err="1"/>
              <a:t>ApplyContours</a:t>
            </a:r>
            <a:endParaRPr lang="en-US" sz="1400" dirty="0"/>
          </a:p>
          <a:p>
            <a:pPr lvl="1"/>
            <a:r>
              <a:rPr lang="en-US" sz="1400" dirty="0" err="1"/>
              <a:t>RossbyWavePlot</a:t>
            </a:r>
            <a:endParaRPr lang="en-US" sz="1400" dirty="0"/>
          </a:p>
          <a:p>
            <a:pPr lvl="1"/>
            <a:r>
              <a:rPr lang="en-US" sz="1400" dirty="0" err="1"/>
              <a:t>figsize_and_aspect</a:t>
            </a:r>
            <a:endParaRPr lang="en-US" sz="1400" dirty="0"/>
          </a:p>
          <a:p>
            <a:pPr lvl="1"/>
            <a:r>
              <a:rPr lang="en-US" sz="1400" dirty="0" err="1"/>
              <a:t>set_up_figure</a:t>
            </a:r>
            <a:endParaRPr lang="en-US" sz="1400" dirty="0"/>
          </a:p>
          <a:p>
            <a:pPr lvl="1"/>
            <a:r>
              <a:rPr lang="en-US" sz="1400" dirty="0" err="1"/>
              <a:t>plot_optical_maps</a:t>
            </a:r>
            <a:endParaRPr lang="en-US" sz="1400" dirty="0"/>
          </a:p>
          <a:p>
            <a:pPr lvl="1"/>
            <a:r>
              <a:rPr lang="en-US" sz="1400" dirty="0"/>
              <a:t>plot_5u_map</a:t>
            </a:r>
          </a:p>
          <a:p>
            <a:pPr lvl="1"/>
            <a:r>
              <a:rPr lang="en-US" sz="1400" dirty="0" err="1"/>
              <a:t>plot_JALPO_map</a:t>
            </a:r>
            <a:endParaRPr lang="en-US" sz="1400" dirty="0"/>
          </a:p>
          <a:p>
            <a:pPr lvl="1"/>
            <a:r>
              <a:rPr lang="en-US" sz="1400" dirty="0" err="1"/>
              <a:t>make_bare_map</a:t>
            </a:r>
            <a:endParaRPr lang="en-US" sz="1400" dirty="0"/>
          </a:p>
          <a:p>
            <a:pPr lvl="1"/>
            <a:r>
              <a:rPr lang="en-US" sz="1400" dirty="0"/>
              <a:t>L4_Jup_Map_Plot_V2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A91B4F9-4909-5229-C278-12CBF8C83E9F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9317785" y="1619696"/>
            <a:ext cx="685594" cy="1567925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CA0C3D4C-9440-C90C-0312-B39CE591BEE6}"/>
              </a:ext>
            </a:extLst>
          </p:cNvPr>
          <p:cNvSpPr/>
          <p:nvPr/>
        </p:nvSpPr>
        <p:spPr>
          <a:xfrm>
            <a:off x="5792691" y="5462396"/>
            <a:ext cx="6199283" cy="1133475"/>
          </a:xfrm>
          <a:prstGeom prst="rect">
            <a:avLst/>
          </a:prstGeom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0" rIns="45720" bIns="0" rtlCol="0" anchor="t" anchorCtr="0"/>
          <a:lstStyle/>
          <a:p>
            <a:r>
              <a:rPr lang="en-US" i="1" dirty="0">
                <a:solidFill>
                  <a:schemeClr val="accent1"/>
                </a:solidFill>
              </a:rPr>
              <a:t>L4 maps are composed of blended data from multiple observations Jupiter in the form of L3 maps. The L3 maps are corrected for limb-darkening and weighted blending is performed at each map location.</a:t>
            </a:r>
            <a:endParaRPr lang="en-US" sz="14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90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23733-DCD7-A9B9-833D-2ECDEEED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EAD00A-03AA-5CBC-6EBB-9715559F9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50" r="26718"/>
          <a:stretch>
            <a:fillRect/>
          </a:stretch>
        </p:blipFill>
        <p:spPr>
          <a:xfrm>
            <a:off x="6881067" y="1440942"/>
            <a:ext cx="1874458" cy="4781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1123FD-CDAA-07E1-77C5-2D8A1560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Plot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EFDA-1E64-D170-10B5-1A44DCA8E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8"/>
            <a:ext cx="6042867" cy="2802787"/>
          </a:xfrm>
        </p:spPr>
        <p:txBody>
          <a:bodyPr>
            <a:noAutofit/>
          </a:bodyPr>
          <a:lstStyle/>
          <a:p>
            <a:r>
              <a:rPr lang="en-US" sz="2400" dirty="0"/>
              <a:t>Standard output plots, are those generated with no additional options selected</a:t>
            </a:r>
          </a:p>
          <a:p>
            <a:pPr lvl="1"/>
            <a:r>
              <a:rPr lang="en-US" sz="2000" dirty="0"/>
              <a:t>Individual plots for each L4 map (A)</a:t>
            </a:r>
          </a:p>
          <a:p>
            <a:pPr lvl="1"/>
            <a:r>
              <a:rPr lang="en-US" sz="2000" dirty="0"/>
              <a:t>Stack plots are created to show trends over time for features (B)</a:t>
            </a:r>
          </a:p>
          <a:p>
            <a:pPr lvl="1"/>
            <a:r>
              <a:rPr lang="en-US" sz="2000" dirty="0"/>
              <a:t>If 5-</a:t>
            </a:r>
            <a:r>
              <a:rPr lang="el-GR" sz="2000" dirty="0"/>
              <a:t>μ</a:t>
            </a:r>
            <a:r>
              <a:rPr lang="en-US" sz="2000" dirty="0"/>
              <a:t>m and/or 889-nm data are available they will be included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3F0587-033F-3E4B-97EC-46BFC279F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541" y="4145810"/>
            <a:ext cx="3497587" cy="2057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B79B6D-EEF1-15B8-C5AB-F00BB935C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68"/>
          <a:stretch>
            <a:fillRect/>
          </a:stretch>
        </p:blipFill>
        <p:spPr>
          <a:xfrm>
            <a:off x="10317542" y="1440942"/>
            <a:ext cx="1874458" cy="47815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DA3FA7-09C9-8F65-0177-AB4039037C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75"/>
          <a:stretch>
            <a:fillRect/>
          </a:stretch>
        </p:blipFill>
        <p:spPr>
          <a:xfrm>
            <a:off x="8515344" y="1440180"/>
            <a:ext cx="1874459" cy="47823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F6719C0-7F1A-8DD3-E431-5E32988389CE}"/>
              </a:ext>
            </a:extLst>
          </p:cNvPr>
          <p:cNvSpPr/>
          <p:nvPr/>
        </p:nvSpPr>
        <p:spPr>
          <a:xfrm>
            <a:off x="838201" y="6312638"/>
            <a:ext cx="11353800" cy="473811"/>
          </a:xfrm>
          <a:prstGeom prst="rect">
            <a:avLst/>
          </a:prstGeom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0" rIns="45720" bIns="0"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L4_map_script(collections=['SED2025_Fall’], 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LonSys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='1',lats=[75,105],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LonLims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=[0,180], 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localmax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=False, segment=False, variance=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False,ctbls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=['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terrain_r','Blues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'], 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='SED’, 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makemaps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=False, 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True,meridplot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=False)</a:t>
            </a:r>
            <a:endParaRPr lang="en-US" sz="105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125E39-4F5D-079F-1D86-F73597AE8902}"/>
              </a:ext>
            </a:extLst>
          </p:cNvPr>
          <p:cNvSpPr/>
          <p:nvPr/>
        </p:nvSpPr>
        <p:spPr>
          <a:xfrm>
            <a:off x="1371115" y="4333875"/>
            <a:ext cx="362436" cy="300151"/>
          </a:xfrm>
          <a:prstGeom prst="rect">
            <a:avLst/>
          </a:prstGeom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0" rIns="45720" bIns="0" rtlCol="0" anchor="t" anchorCtr="0"/>
          <a:lstStyle/>
          <a:p>
            <a:r>
              <a:rPr lang="en-US" b="1" dirty="0">
                <a:solidFill>
                  <a:schemeClr val="tx1"/>
                </a:solidFill>
              </a:rPr>
              <a:t>A)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4B2CC4-7C74-B5B0-2AA7-E54A5BD2FA4D}"/>
              </a:ext>
            </a:extLst>
          </p:cNvPr>
          <p:cNvSpPr/>
          <p:nvPr/>
        </p:nvSpPr>
        <p:spPr>
          <a:xfrm>
            <a:off x="6881067" y="1416025"/>
            <a:ext cx="362436" cy="300151"/>
          </a:xfrm>
          <a:prstGeom prst="rect">
            <a:avLst/>
          </a:prstGeom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0" rIns="45720" bIns="0" rtlCol="0" anchor="t" anchorCtr="0"/>
          <a:lstStyle/>
          <a:p>
            <a:r>
              <a:rPr lang="en-US" b="1" dirty="0">
                <a:solidFill>
                  <a:schemeClr val="tx1"/>
                </a:solidFill>
              </a:rPr>
              <a:t>B)</a:t>
            </a:r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298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E38C9-8EBF-7F68-ED7A-45EC7E9E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D263-B738-A52C-C5BB-E02E6E52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Top-Level Calling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23706-1A73-1A8B-E3D0-C1CCDD23C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8"/>
            <a:ext cx="4858751" cy="5064783"/>
          </a:xfrm>
        </p:spPr>
        <p:txBody>
          <a:bodyPr>
            <a:noAutofit/>
          </a:bodyPr>
          <a:lstStyle/>
          <a:p>
            <a:r>
              <a:rPr lang="en-US" sz="2400" dirty="0"/>
              <a:t>All visualization and analysis functions can (or should be) callable from L4_map_scripy to run in a ‘batch’ mode</a:t>
            </a:r>
          </a:p>
          <a:p>
            <a:r>
              <a:rPr lang="en-US" sz="2400" dirty="0"/>
              <a:t>It’s possible to make the L4 maps as well using this script, but that is a dependency on another project/repo</a:t>
            </a:r>
          </a:p>
          <a:p>
            <a:r>
              <a:rPr lang="en-US" sz="2400" dirty="0">
                <a:solidFill>
                  <a:srgbClr val="FF0000"/>
                </a:solidFill>
              </a:rPr>
              <a:t>L4 map functions should work on L3 files as well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BF916B-08A9-FEF5-4F75-D1B0B2CDD0D2}"/>
              </a:ext>
            </a:extLst>
          </p:cNvPr>
          <p:cNvSpPr/>
          <p:nvPr/>
        </p:nvSpPr>
        <p:spPr>
          <a:xfrm>
            <a:off x="7404436" y="1440180"/>
            <a:ext cx="2944368" cy="62068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dirty="0"/>
              <a:t>L4_map_script.py</a:t>
            </a:r>
          </a:p>
          <a:p>
            <a:pPr lvl="1"/>
            <a:r>
              <a:rPr lang="en-US" sz="1400" dirty="0"/>
              <a:t>L4_map_script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BD9DF1-5262-B8CE-9FD4-E633C5447FE7}"/>
              </a:ext>
            </a:extLst>
          </p:cNvPr>
          <p:cNvSpPr/>
          <p:nvPr/>
        </p:nvSpPr>
        <p:spPr>
          <a:xfrm>
            <a:off x="5792692" y="2746456"/>
            <a:ext cx="2944368" cy="1844594"/>
          </a:xfrm>
          <a:prstGeom prst="roundRect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make_L4_cont_maps.py</a:t>
            </a:r>
          </a:p>
          <a:p>
            <a:pPr lvl="1"/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blendstack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make_map_frame_lims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make_5u_cont_map</a:t>
            </a:r>
          </a:p>
          <a:p>
            <a:pPr lvl="1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createL4FileName</a:t>
            </a:r>
          </a:p>
          <a:p>
            <a:pPr lvl="1"/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write_fits_contiguous_map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make_L4_cont_maps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E5020F2-00B3-CD5B-9EF0-68BF508A5CC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7727951" y="1597787"/>
            <a:ext cx="685594" cy="1611744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39B0EFE-F52C-7938-B443-7DE8EB396397}"/>
              </a:ext>
            </a:extLst>
          </p:cNvPr>
          <p:cNvSpPr/>
          <p:nvPr/>
        </p:nvSpPr>
        <p:spPr>
          <a:xfrm>
            <a:off x="8971870" y="2746456"/>
            <a:ext cx="2945350" cy="2446966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dirty="0"/>
              <a:t>L4_Jup_Map_Plot_V2.py</a:t>
            </a:r>
          </a:p>
          <a:p>
            <a:pPr lvl="1"/>
            <a:r>
              <a:rPr lang="en-US" sz="1400" dirty="0" err="1"/>
              <a:t>ApplyContours</a:t>
            </a:r>
            <a:endParaRPr lang="en-US" sz="1400" dirty="0"/>
          </a:p>
          <a:p>
            <a:pPr lvl="1"/>
            <a:r>
              <a:rPr lang="en-US" sz="1400" dirty="0" err="1"/>
              <a:t>RossbyWavePlot</a:t>
            </a:r>
            <a:endParaRPr lang="en-US" sz="1400" dirty="0"/>
          </a:p>
          <a:p>
            <a:pPr lvl="1"/>
            <a:r>
              <a:rPr lang="en-US" sz="1400" dirty="0" err="1"/>
              <a:t>figsize_and_aspect</a:t>
            </a:r>
            <a:endParaRPr lang="en-US" sz="1400" dirty="0"/>
          </a:p>
          <a:p>
            <a:pPr lvl="1"/>
            <a:r>
              <a:rPr lang="en-US" sz="1400" dirty="0" err="1"/>
              <a:t>set_up_figure</a:t>
            </a:r>
            <a:endParaRPr lang="en-US" sz="1400" dirty="0"/>
          </a:p>
          <a:p>
            <a:pPr lvl="1"/>
            <a:r>
              <a:rPr lang="en-US" sz="1400" dirty="0" err="1"/>
              <a:t>plot_optical_maps</a:t>
            </a:r>
            <a:endParaRPr lang="en-US" sz="1400" dirty="0"/>
          </a:p>
          <a:p>
            <a:pPr lvl="1"/>
            <a:r>
              <a:rPr lang="en-US" sz="1400" dirty="0"/>
              <a:t>plot_5u_map</a:t>
            </a:r>
          </a:p>
          <a:p>
            <a:pPr lvl="1"/>
            <a:r>
              <a:rPr lang="en-US" sz="1400" dirty="0" err="1"/>
              <a:t>plot_JALPO_map</a:t>
            </a:r>
            <a:endParaRPr lang="en-US" sz="1400" dirty="0"/>
          </a:p>
          <a:p>
            <a:pPr lvl="1"/>
            <a:r>
              <a:rPr lang="en-US" sz="1400" dirty="0" err="1"/>
              <a:t>make_bare_map</a:t>
            </a:r>
            <a:endParaRPr lang="en-US" sz="1400" dirty="0"/>
          </a:p>
          <a:p>
            <a:pPr lvl="1"/>
            <a:r>
              <a:rPr lang="en-US" sz="1400" dirty="0"/>
              <a:t>L4_Jup_Map_Plot_V2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22D495F-BA1A-DD93-F347-26F2B2881B82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9317785" y="1619696"/>
            <a:ext cx="685594" cy="1567925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125CECAF-2DF7-61FA-A921-191F01CBF9EB}"/>
              </a:ext>
            </a:extLst>
          </p:cNvPr>
          <p:cNvSpPr/>
          <p:nvPr/>
        </p:nvSpPr>
        <p:spPr>
          <a:xfrm>
            <a:off x="5792691" y="5462396"/>
            <a:ext cx="6199283" cy="1133475"/>
          </a:xfrm>
          <a:prstGeom prst="rect">
            <a:avLst/>
          </a:prstGeom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5720" tIns="0" rIns="45720" bIns="0" rtlCol="0" anchor="t" anchorCtr="0"/>
          <a:lstStyle/>
          <a:p>
            <a:r>
              <a:rPr lang="en-US" i="1" dirty="0">
                <a:solidFill>
                  <a:schemeClr val="accent1"/>
                </a:solidFill>
              </a:rPr>
              <a:t>L4 maps are composed of blended data from multiple observations Jupiter in the form of L3 maps. The L3 maps are corrected for limb-darkening and weighted blending is performed at each map location.</a:t>
            </a:r>
            <a:endParaRPr lang="en-US" sz="14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07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2E91-7624-5C19-1622-CAF69C476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A1F9-BFD1-1EE9-1CC0-DA9FB424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Top-Level Calling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AE34B-7162-B428-F8E7-2E43647E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8"/>
            <a:ext cx="5257800" cy="1126387"/>
          </a:xfrm>
        </p:spPr>
        <p:txBody>
          <a:bodyPr/>
          <a:lstStyle/>
          <a:p>
            <a:r>
              <a:rPr lang="en-US" dirty="0"/>
              <a:t>TBD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D69CF3-BA61-B605-B0F0-52FE623C3251}"/>
              </a:ext>
            </a:extLst>
          </p:cNvPr>
          <p:cNvSpPr/>
          <p:nvPr/>
        </p:nvSpPr>
        <p:spPr>
          <a:xfrm>
            <a:off x="6226882" y="6192213"/>
            <a:ext cx="1298290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plot_patch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37F851-38E2-1C32-4B4E-BDCD1B1C3710}"/>
              </a:ext>
            </a:extLst>
          </p:cNvPr>
          <p:cNvSpPr/>
          <p:nvPr/>
        </p:nvSpPr>
        <p:spPr>
          <a:xfrm>
            <a:off x="4635816" y="6192213"/>
            <a:ext cx="1460185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make_patch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E14286-2ECF-CDB5-61C0-EB3C04BD0E67}"/>
              </a:ext>
            </a:extLst>
          </p:cNvPr>
          <p:cNvSpPr/>
          <p:nvPr/>
        </p:nvSpPr>
        <p:spPr>
          <a:xfrm>
            <a:off x="7624591" y="6178282"/>
            <a:ext cx="2851936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plot_contours_on_patch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3FCD1D2-1C44-6F91-C525-2FAE4267E8B9}"/>
              </a:ext>
            </a:extLst>
          </p:cNvPr>
          <p:cNvCxnSpPr>
            <a:cxnSpLocks/>
            <a:endCxn id="6" idx="0"/>
          </p:cNvCxnSpPr>
          <p:nvPr/>
        </p:nvCxnSpPr>
        <p:spPr>
          <a:xfrm rot="5400000">
            <a:off x="7583149" y="4724802"/>
            <a:ext cx="760290" cy="2174533"/>
          </a:xfrm>
          <a:prstGeom prst="bentConnector3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27430BD-9B7C-AC50-154F-A18F8F2D2027}"/>
              </a:ext>
            </a:extLst>
          </p:cNvPr>
          <p:cNvSpPr/>
          <p:nvPr/>
        </p:nvSpPr>
        <p:spPr>
          <a:xfrm>
            <a:off x="1968364" y="6192213"/>
            <a:ext cx="2551118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read_fits_map_L2_L3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A988E0-0BE6-21CD-2461-935466288279}"/>
              </a:ext>
            </a:extLst>
          </p:cNvPr>
          <p:cNvSpPr/>
          <p:nvPr/>
        </p:nvSpPr>
        <p:spPr>
          <a:xfrm>
            <a:off x="-544643" y="6163029"/>
            <a:ext cx="2412409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get_map_collection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5F48E0-82B8-C348-FB73-4B9998EC07BF}"/>
              </a:ext>
            </a:extLst>
          </p:cNvPr>
          <p:cNvSpPr/>
          <p:nvPr/>
        </p:nvSpPr>
        <p:spPr>
          <a:xfrm>
            <a:off x="10592860" y="6169318"/>
            <a:ext cx="1675286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find_extrema</a:t>
            </a:r>
            <a:endParaRPr lang="en-US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1224602-4681-F89F-D5FA-9003FBC49974}"/>
              </a:ext>
            </a:extLst>
          </p:cNvPr>
          <p:cNvCxnSpPr>
            <a:cxnSpLocks/>
            <a:endCxn id="28" idx="0"/>
          </p:cNvCxnSpPr>
          <p:nvPr/>
        </p:nvCxnSpPr>
        <p:spPr>
          <a:xfrm rot="16200000" flipH="1">
            <a:off x="9871834" y="4610648"/>
            <a:ext cx="737395" cy="2379943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CE502C3-0492-64A3-62C7-0933E3C1EDD0}"/>
              </a:ext>
            </a:extLst>
          </p:cNvPr>
          <p:cNvCxnSpPr>
            <a:cxnSpLocks/>
            <a:endCxn id="27" idx="0"/>
          </p:cNvCxnSpPr>
          <p:nvPr/>
        </p:nvCxnSpPr>
        <p:spPr>
          <a:xfrm rot="5400000">
            <a:off x="4490508" y="1602977"/>
            <a:ext cx="731106" cy="8388998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11D94C6-7BDD-BCAD-BE64-3BCD7478DEB2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>
            <a:off x="5767097" y="2908750"/>
            <a:ext cx="760290" cy="5806637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9A28558-0C5D-2352-DCAB-15E76D0921BE}"/>
              </a:ext>
            </a:extLst>
          </p:cNvPr>
          <p:cNvCxnSpPr>
            <a:cxnSpLocks/>
            <a:endCxn id="7" idx="0"/>
          </p:cNvCxnSpPr>
          <p:nvPr/>
        </p:nvCxnSpPr>
        <p:spPr>
          <a:xfrm rot="5400000">
            <a:off x="6828090" y="3969743"/>
            <a:ext cx="760290" cy="3684651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4EC9AF3-FDEF-7053-214D-C1367DEE87B6}"/>
              </a:ext>
            </a:extLst>
          </p:cNvPr>
          <p:cNvCxnSpPr>
            <a:cxnSpLocks/>
            <a:endCxn id="8" idx="0"/>
          </p:cNvCxnSpPr>
          <p:nvPr/>
        </p:nvCxnSpPr>
        <p:spPr>
          <a:xfrm rot="5400000">
            <a:off x="8677381" y="5805102"/>
            <a:ext cx="746359" cy="1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28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DAE6A-03D7-E4A3-A827-16F922CE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00F2-DFE2-47E9-C01A-50286F33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Full Module Listing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B314E-95F4-9CAC-F80A-45F066C81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91800" cy="47346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config_VA</a:t>
            </a:r>
            <a:r>
              <a:rPr lang="en-US" sz="1600" dirty="0">
                <a:solidFill>
                  <a:srgbClr val="022D57"/>
                </a:solidFill>
              </a:rPr>
              <a:t>(planet="Jupiter")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find_blob</a:t>
            </a:r>
            <a:r>
              <a:rPr lang="en-US" sz="1600" dirty="0">
                <a:solidFill>
                  <a:srgbClr val="022D57"/>
                </a:solidFill>
              </a:rPr>
              <a:t>(</a:t>
            </a:r>
            <a:r>
              <a:rPr lang="en-US" sz="1600" dirty="0" err="1">
                <a:solidFill>
                  <a:srgbClr val="022D57"/>
                </a:solidFill>
              </a:rPr>
              <a:t>image_to_segment</a:t>
            </a:r>
            <a:r>
              <a:rPr lang="en-US" sz="1600" dirty="0">
                <a:solidFill>
                  <a:srgbClr val="022D57"/>
                </a:solidFill>
              </a:rPr>
              <a:t>, </a:t>
            </a:r>
            <a:r>
              <a:rPr lang="en-US" sz="1600" dirty="0" err="1">
                <a:solidFill>
                  <a:srgbClr val="022D57"/>
                </a:solidFill>
              </a:rPr>
              <a:t>intensity_image,threshold_abs</a:t>
            </a:r>
            <a:r>
              <a:rPr lang="en-US" sz="1600" dirty="0">
                <a:solidFill>
                  <a:srgbClr val="022D57"/>
                </a:solidFill>
              </a:rPr>
              <a:t>=None, mode='max’)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find_extrema</a:t>
            </a:r>
            <a:r>
              <a:rPr lang="en-US" sz="1600" dirty="0">
                <a:solidFill>
                  <a:srgbClr val="022D57"/>
                </a:solidFill>
              </a:rPr>
              <a:t>(data, </a:t>
            </a:r>
            <a:r>
              <a:rPr lang="en-US" sz="1600" dirty="0" err="1">
                <a:solidFill>
                  <a:srgbClr val="022D57"/>
                </a:solidFill>
              </a:rPr>
              <a:t>min_distance</a:t>
            </a:r>
            <a:r>
              <a:rPr lang="en-US" sz="1600" dirty="0">
                <a:solidFill>
                  <a:srgbClr val="022D57"/>
                </a:solidFill>
              </a:rPr>
              <a:t>=4, </a:t>
            </a:r>
            <a:r>
              <a:rPr lang="en-US" sz="1600" dirty="0" err="1">
                <a:solidFill>
                  <a:srgbClr val="022D57"/>
                </a:solidFill>
              </a:rPr>
              <a:t>threshold_abs</a:t>
            </a:r>
            <a:r>
              <a:rPr lang="en-US" sz="1600" dirty="0">
                <a:solidFill>
                  <a:srgbClr val="022D57"/>
                </a:solidFill>
              </a:rPr>
              <a:t>=None, mode='max')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flatten_patch</a:t>
            </a:r>
            <a:r>
              <a:rPr lang="en-US" sz="1600" dirty="0">
                <a:solidFill>
                  <a:srgbClr val="022D57"/>
                </a:solidFill>
              </a:rPr>
              <a:t>(patch)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get_map_collection</a:t>
            </a:r>
            <a:r>
              <a:rPr lang="en-US" sz="1600" dirty="0">
                <a:solidFill>
                  <a:srgbClr val="022D57"/>
                </a:solidFill>
              </a:rPr>
              <a:t>(collection)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22D57"/>
                </a:solidFill>
              </a:rPr>
              <a:t>L3_Jup_Map_Plot_V2</a:t>
            </a:r>
            <a:r>
              <a:rPr lang="en-US" sz="1600" dirty="0">
                <a:solidFill>
                  <a:srgbClr val="022D57"/>
                </a:solidFill>
              </a:rPr>
              <a:t>(</a:t>
            </a:r>
            <a:r>
              <a:rPr lang="en-US" sz="1600" dirty="0" err="1">
                <a:solidFill>
                  <a:srgbClr val="022D57"/>
                </a:solidFill>
              </a:rPr>
              <a:t>obskey</a:t>
            </a:r>
            <a:r>
              <a:rPr lang="en-US" sz="1600" dirty="0">
                <a:solidFill>
                  <a:srgbClr val="022D57"/>
                </a:solidFill>
              </a:rPr>
              <a:t>="20251016UTa",target="Jupiter",                        </a:t>
            </a:r>
            <a:r>
              <a:rPr lang="en-US" sz="1600" dirty="0" err="1">
                <a:solidFill>
                  <a:srgbClr val="022D57"/>
                </a:solidFill>
              </a:rPr>
              <a:t>CoLatLims</a:t>
            </a:r>
            <a:r>
              <a:rPr lang="en-US" sz="1600" dirty="0">
                <a:solidFill>
                  <a:srgbClr val="022D57"/>
                </a:solidFill>
              </a:rPr>
              <a:t>=[45,135],</a:t>
            </a:r>
            <a:r>
              <a:rPr lang="en-US" sz="1600" dirty="0" err="1">
                <a:solidFill>
                  <a:srgbClr val="022D57"/>
                </a:solidFill>
              </a:rPr>
              <a:t>LonRng</a:t>
            </a:r>
            <a:r>
              <a:rPr lang="en-US" sz="1600" dirty="0">
                <a:solidFill>
                  <a:srgbClr val="022D57"/>
                </a:solidFill>
              </a:rPr>
              <a:t>=45,CMpref='</a:t>
            </a:r>
            <a:r>
              <a:rPr lang="en-US" sz="1600" dirty="0" err="1">
                <a:solidFill>
                  <a:srgbClr val="022D57"/>
                </a:solidFill>
              </a:rPr>
              <a:t>subobs</a:t>
            </a:r>
            <a:r>
              <a:rPr lang="en-US" sz="1600" dirty="0">
                <a:solidFill>
                  <a:srgbClr val="022D57"/>
                </a:solidFill>
              </a:rPr>
              <a:t>',</a:t>
            </a:r>
            <a:r>
              <a:rPr lang="en-US" sz="1600" dirty="0" err="1">
                <a:solidFill>
                  <a:srgbClr val="022D57"/>
                </a:solidFill>
              </a:rPr>
              <a:t>LonSys</a:t>
            </a:r>
            <a:r>
              <a:rPr lang="en-US" sz="1600" dirty="0">
                <a:solidFill>
                  <a:srgbClr val="022D57"/>
                </a:solidFill>
              </a:rPr>
              <a:t>='2',showbands=False,                        </a:t>
            </a:r>
            <a:r>
              <a:rPr lang="en-US" sz="1600" dirty="0" err="1">
                <a:solidFill>
                  <a:srgbClr val="022D57"/>
                </a:solidFill>
              </a:rPr>
              <a:t>coef</a:t>
            </a:r>
            <a:r>
              <a:rPr lang="en-US" sz="1600" dirty="0">
                <a:solidFill>
                  <a:srgbClr val="022D57"/>
                </a:solidFill>
              </a:rPr>
              <a:t>=[0.,0.],</a:t>
            </a:r>
            <a:r>
              <a:rPr lang="en-US" sz="1600" dirty="0" err="1">
                <a:solidFill>
                  <a:srgbClr val="022D57"/>
                </a:solidFill>
              </a:rPr>
              <a:t>subproj</a:t>
            </a:r>
            <a:r>
              <a:rPr lang="en-US" sz="1600" dirty="0">
                <a:solidFill>
                  <a:srgbClr val="022D57"/>
                </a:solidFill>
              </a:rPr>
              <a:t>='',</a:t>
            </a:r>
            <a:r>
              <a:rPr lang="en-US" sz="1600" dirty="0" err="1">
                <a:solidFill>
                  <a:srgbClr val="022D57"/>
                </a:solidFill>
              </a:rPr>
              <a:t>figxy</a:t>
            </a:r>
            <a:r>
              <a:rPr lang="en-US" sz="1600" dirty="0">
                <a:solidFill>
                  <a:srgbClr val="022D57"/>
                </a:solidFill>
              </a:rPr>
              <a:t>=[8.0,4.0],</a:t>
            </a:r>
            <a:r>
              <a:rPr lang="en-US" sz="1600" dirty="0" err="1">
                <a:solidFill>
                  <a:srgbClr val="022D57"/>
                </a:solidFill>
              </a:rPr>
              <a:t>FiveMicron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False,plotoptions</a:t>
            </a:r>
            <a:r>
              <a:rPr lang="en-US" sz="1600" dirty="0">
                <a:solidFill>
                  <a:srgbClr val="022D57"/>
                </a:solidFill>
              </a:rPr>
              <a:t>=["</a:t>
            </a:r>
            <a:r>
              <a:rPr lang="en-US" sz="1600" dirty="0" err="1">
                <a:solidFill>
                  <a:srgbClr val="022D57"/>
                </a:solidFill>
              </a:rPr>
              <a:t>contours","surface</a:t>
            </a:r>
            <a:r>
              <a:rPr lang="en-US" sz="1600" dirty="0">
                <a:solidFill>
                  <a:srgbClr val="022D57"/>
                </a:solidFill>
              </a:rPr>
              <a:t>"], ROI=False, </a:t>
            </a:r>
            <a:r>
              <a:rPr lang="en-US" sz="1600" dirty="0" err="1">
                <a:solidFill>
                  <a:srgbClr val="022D57"/>
                </a:solidFill>
              </a:rPr>
              <a:t>LimbCorrection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False,dataversion</a:t>
            </a:r>
            <a:r>
              <a:rPr lang="en-US" sz="1600" dirty="0">
                <a:solidFill>
                  <a:srgbClr val="022D57"/>
                </a:solidFill>
              </a:rPr>
              <a:t>=2,smoothcont=0)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22D57"/>
                </a:solidFill>
              </a:rPr>
              <a:t>L4_Jup_Map_Plot_V2</a:t>
            </a:r>
            <a:r>
              <a:rPr lang="en-US" sz="1600" dirty="0">
                <a:solidFill>
                  <a:srgbClr val="022D57"/>
                </a:solidFill>
              </a:rPr>
              <a:t>(collection="20240129-20240202",IRTFcollection='20240205-20240205', CH4889collection="20240131-20240201",LonSys='1', </a:t>
            </a:r>
            <a:r>
              <a:rPr lang="en-US" sz="1600" dirty="0" err="1">
                <a:solidFill>
                  <a:srgbClr val="022D57"/>
                </a:solidFill>
              </a:rPr>
              <a:t>LatLims</a:t>
            </a:r>
            <a:r>
              <a:rPr lang="en-US" sz="1600" dirty="0">
                <a:solidFill>
                  <a:srgbClr val="022D57"/>
                </a:solidFill>
              </a:rPr>
              <a:t>=[0,180],</a:t>
            </a:r>
            <a:r>
              <a:rPr lang="en-US" sz="1600" dirty="0" err="1">
                <a:solidFill>
                  <a:srgbClr val="022D57"/>
                </a:solidFill>
              </a:rPr>
              <a:t>LonLims</a:t>
            </a:r>
            <a:r>
              <a:rPr lang="en-US" sz="1600" dirty="0">
                <a:solidFill>
                  <a:srgbClr val="022D57"/>
                </a:solidFill>
              </a:rPr>
              <a:t>=[0,360],</a:t>
            </a:r>
            <a:r>
              <a:rPr lang="en-US" sz="1600" dirty="0" err="1">
                <a:solidFill>
                  <a:srgbClr val="022D57"/>
                </a:solidFill>
              </a:rPr>
              <a:t>figsz</a:t>
            </a:r>
            <a:r>
              <a:rPr lang="en-US" sz="1600" dirty="0">
                <a:solidFill>
                  <a:srgbClr val="022D57"/>
                </a:solidFill>
              </a:rPr>
              <a:t>=[6.0,6.0],ROI=False, variance=</a:t>
            </a:r>
            <a:r>
              <a:rPr lang="en-US" sz="1600" dirty="0" err="1">
                <a:solidFill>
                  <a:srgbClr val="022D57"/>
                </a:solidFill>
              </a:rPr>
              <a:t>False,localmax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False,segment</a:t>
            </a:r>
            <a:r>
              <a:rPr lang="en-US" sz="1600" dirty="0">
                <a:solidFill>
                  <a:srgbClr val="022D57"/>
                </a:solidFill>
              </a:rPr>
              <a:t>=False, </a:t>
            </a:r>
            <a:r>
              <a:rPr lang="en-US" sz="1600" dirty="0" err="1">
                <a:solidFill>
                  <a:srgbClr val="022D57"/>
                </a:solidFill>
              </a:rPr>
              <a:t>proj</a:t>
            </a:r>
            <a:r>
              <a:rPr lang="en-US" sz="1600" dirty="0">
                <a:solidFill>
                  <a:srgbClr val="022D57"/>
                </a:solidFill>
              </a:rPr>
              <a:t>='AGU2025',ctbls=['</a:t>
            </a:r>
            <a:r>
              <a:rPr lang="en-US" sz="1600" dirty="0" err="1">
                <a:solidFill>
                  <a:srgbClr val="022D57"/>
                </a:solidFill>
              </a:rPr>
              <a:t>terrain_r','Blues</a:t>
            </a:r>
            <a:r>
              <a:rPr lang="en-US" sz="1600" dirty="0">
                <a:solidFill>
                  <a:srgbClr val="022D57"/>
                </a:solidFill>
              </a:rPr>
              <a:t>'], </a:t>
            </a:r>
            <a:r>
              <a:rPr lang="en-US" sz="1600" dirty="0" err="1">
                <a:solidFill>
                  <a:srgbClr val="022D57"/>
                </a:solidFill>
              </a:rPr>
              <a:t>cont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False,bare_maps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False,cb</a:t>
            </a:r>
            <a:r>
              <a:rPr lang="en-US" sz="1600" dirty="0">
                <a:solidFill>
                  <a:srgbClr val="022D57"/>
                </a:solidFill>
              </a:rPr>
              <a:t>=False, axNH3=False,axCH4=</a:t>
            </a:r>
            <a:r>
              <a:rPr lang="en-US" sz="1600" dirty="0" err="1">
                <a:solidFill>
                  <a:srgbClr val="022D57"/>
                </a:solidFill>
              </a:rPr>
              <a:t>False,axRGB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False,axIRTF</a:t>
            </a:r>
            <a:r>
              <a:rPr lang="en-US" sz="1600" dirty="0">
                <a:solidFill>
                  <a:srgbClr val="022D57"/>
                </a:solidFill>
              </a:rPr>
              <a:t>=False, axCH4889=False,axNH3vCloud=False,axNH3vIRTF=False, </a:t>
            </a:r>
            <a:r>
              <a:rPr lang="en-US" sz="1600" dirty="0" err="1">
                <a:solidFill>
                  <a:srgbClr val="022D57"/>
                </a:solidFill>
              </a:rPr>
              <a:t>axIRTFvPCld</a:t>
            </a:r>
            <a:r>
              <a:rPr lang="en-US" sz="1600" dirty="0">
                <a:solidFill>
                  <a:srgbClr val="022D57"/>
                </a:solidFill>
              </a:rPr>
              <a:t>=False,ax889vPCld=</a:t>
            </a:r>
            <a:r>
              <a:rPr lang="en-US" sz="1600" dirty="0" err="1">
                <a:solidFill>
                  <a:srgbClr val="022D57"/>
                </a:solidFill>
              </a:rPr>
              <a:t>False,counter</a:t>
            </a:r>
            <a:r>
              <a:rPr lang="en-US" sz="1600" dirty="0">
                <a:solidFill>
                  <a:srgbClr val="022D57"/>
                </a:solidFill>
              </a:rPr>
              <a:t>=0,countmax=0, </a:t>
            </a:r>
            <a:r>
              <a:rPr lang="en-US" sz="1600" dirty="0" err="1">
                <a:solidFill>
                  <a:srgbClr val="022D57"/>
                </a:solidFill>
              </a:rPr>
              <a:t>waveplot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False,meridplot</a:t>
            </a:r>
            <a:r>
              <a:rPr lang="en-US" sz="1600" dirty="0">
                <a:solidFill>
                  <a:srgbClr val="022D57"/>
                </a:solidFill>
              </a:rPr>
              <a:t>=False,CH4889plot=False, </a:t>
            </a:r>
            <a:r>
              <a:rPr lang="en-US" sz="1600" dirty="0" err="1">
                <a:solidFill>
                  <a:srgbClr val="022D57"/>
                </a:solidFill>
              </a:rPr>
              <a:t>surfplot</a:t>
            </a:r>
            <a:r>
              <a:rPr lang="en-US" sz="1600" dirty="0">
                <a:solidFill>
                  <a:srgbClr val="022D57"/>
                </a:solidFill>
              </a:rPr>
              <a:t>=False,L3style=</a:t>
            </a:r>
            <a:r>
              <a:rPr lang="en-US" sz="1600" dirty="0" err="1">
                <a:solidFill>
                  <a:srgbClr val="022D57"/>
                </a:solidFill>
              </a:rPr>
              <a:t>False,smoothcont</a:t>
            </a:r>
            <a:r>
              <a:rPr lang="en-US" sz="1600" dirty="0">
                <a:solidFill>
                  <a:srgbClr val="022D57"/>
                </a:solidFill>
              </a:rPr>
              <a:t>=0,dataversion=2)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93CCE2-CA4C-6CAB-8546-96B52FD41241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223E659E-87E0-F7B0-14E8-E0A8345B8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63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8D56-BF5D-04C6-93D4-EF76E3FC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3B46-4F67-2F7A-FC7C-1EB2644E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Full Module Listing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3F10A-849F-3B91-2CD9-33421584B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1003280" cy="47346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22D57"/>
                </a:solidFill>
              </a:rPr>
              <a:t>L4_map_script</a:t>
            </a:r>
            <a:r>
              <a:rPr lang="en-US" sz="1600" dirty="0">
                <a:solidFill>
                  <a:srgbClr val="022D57"/>
                </a:solidFill>
              </a:rPr>
              <a:t>(collections=['HSTGO'],</a:t>
            </a:r>
            <a:r>
              <a:rPr lang="en-US" sz="1600" dirty="0" err="1">
                <a:solidFill>
                  <a:srgbClr val="022D57"/>
                </a:solidFill>
              </a:rPr>
              <a:t>proj</a:t>
            </a:r>
            <a:r>
              <a:rPr lang="en-US" sz="1600" dirty="0">
                <a:solidFill>
                  <a:srgbClr val="022D57"/>
                </a:solidFill>
              </a:rPr>
              <a:t>='',</a:t>
            </a:r>
            <a:r>
              <a:rPr lang="en-US" sz="1600" dirty="0" err="1">
                <a:solidFill>
                  <a:srgbClr val="022D57"/>
                </a:solidFill>
              </a:rPr>
              <a:t>LonSys</a:t>
            </a:r>
            <a:r>
              <a:rPr lang="en-US" sz="1600" dirty="0">
                <a:solidFill>
                  <a:srgbClr val="022D57"/>
                </a:solidFill>
              </a:rPr>
              <a:t>='1',lats=[75,105],</a:t>
            </a:r>
            <a:r>
              <a:rPr lang="en-US" sz="1600" dirty="0" err="1">
                <a:solidFill>
                  <a:srgbClr val="022D57"/>
                </a:solidFill>
              </a:rPr>
              <a:t>LonLims</a:t>
            </a:r>
            <a:r>
              <a:rPr lang="en-US" sz="1600" dirty="0">
                <a:solidFill>
                  <a:srgbClr val="022D57"/>
                </a:solidFill>
              </a:rPr>
              <a:t>=[0,360],</a:t>
            </a:r>
            <a:r>
              <a:rPr lang="en-US" sz="1600" dirty="0" err="1">
                <a:solidFill>
                  <a:srgbClr val="022D57"/>
                </a:solidFill>
              </a:rPr>
              <a:t>localmax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False,segment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False,meridplot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False,variance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False,ctbls</a:t>
            </a:r>
            <a:r>
              <a:rPr lang="en-US" sz="1600" dirty="0">
                <a:solidFill>
                  <a:srgbClr val="022D57"/>
                </a:solidFill>
              </a:rPr>
              <a:t>=['</a:t>
            </a:r>
            <a:r>
              <a:rPr lang="en-US" sz="1600" dirty="0" err="1">
                <a:solidFill>
                  <a:srgbClr val="022D57"/>
                </a:solidFill>
              </a:rPr>
              <a:t>terrain_r','Blues</a:t>
            </a:r>
            <a:r>
              <a:rPr lang="en-US" sz="1600" dirty="0">
                <a:solidFill>
                  <a:srgbClr val="022D57"/>
                </a:solidFill>
              </a:rPr>
              <a:t>'], </a:t>
            </a:r>
            <a:r>
              <a:rPr lang="en-US" sz="1600" dirty="0" err="1">
                <a:solidFill>
                  <a:srgbClr val="022D57"/>
                </a:solidFill>
              </a:rPr>
              <a:t>makemaps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False,cont</a:t>
            </a:r>
            <a:r>
              <a:rPr lang="en-US" sz="1600" dirty="0">
                <a:solidFill>
                  <a:srgbClr val="022D57"/>
                </a:solidFill>
              </a:rPr>
              <a:t>=True)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make_lat_lon_str</a:t>
            </a:r>
            <a:r>
              <a:rPr lang="en-US" sz="1600" dirty="0">
                <a:solidFill>
                  <a:srgbClr val="022D57"/>
                </a:solidFill>
              </a:rPr>
              <a:t>(</a:t>
            </a:r>
            <a:r>
              <a:rPr lang="en-US" sz="1600" dirty="0" err="1">
                <a:solidFill>
                  <a:srgbClr val="022D57"/>
                </a:solidFill>
              </a:rPr>
              <a:t>lats,LonLims</a:t>
            </a:r>
            <a:r>
              <a:rPr lang="en-US" sz="1600" dirty="0">
                <a:solidFill>
                  <a:srgbClr val="022D57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make_patch</a:t>
            </a:r>
            <a:r>
              <a:rPr lang="en-US" sz="1600" dirty="0">
                <a:solidFill>
                  <a:srgbClr val="022D57"/>
                </a:solidFill>
              </a:rPr>
              <a:t>(</a:t>
            </a:r>
            <a:r>
              <a:rPr lang="en-US" sz="1600" dirty="0" err="1">
                <a:solidFill>
                  <a:srgbClr val="022D57"/>
                </a:solidFill>
              </a:rPr>
              <a:t>Map,LatLims,LonLims,CM,LonRng,pad</a:t>
            </a:r>
            <a:r>
              <a:rPr lang="en-US" sz="1600" dirty="0">
                <a:solidFill>
                  <a:srgbClr val="022D57"/>
                </a:solidFill>
              </a:rPr>
              <a:t>=True)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map_and_context</a:t>
            </a:r>
            <a:r>
              <a:rPr lang="en-US" sz="1600" dirty="0">
                <a:solidFill>
                  <a:srgbClr val="022D57"/>
                </a:solidFill>
              </a:rPr>
              <a:t>(mapdata,dateobs,bunit,filename,RGB,RGBtime,LonSys,LatLims,LonLimsWest,LonRng,PlotCM,amfdata,coef,low,high,showbands,FiveMicron,figxy,ct,pathout,Level='L3',suptitle="Test",</a:t>
            </a:r>
            <a:r>
              <a:rPr lang="en-US" sz="1600" dirty="0" err="1">
                <a:solidFill>
                  <a:srgbClr val="022D57"/>
                </a:solidFill>
              </a:rPr>
              <a:t>cbar_rev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False,cont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False,cbar_title</a:t>
            </a:r>
            <a:r>
              <a:rPr lang="en-US" sz="1600" dirty="0">
                <a:solidFill>
                  <a:srgbClr val="022D57"/>
                </a:solidFill>
              </a:rPr>
              <a:t>="Test", ROI=</a:t>
            </a:r>
            <a:r>
              <a:rPr lang="en-US" sz="1600" dirty="0" err="1">
                <a:solidFill>
                  <a:srgbClr val="022D57"/>
                </a:solidFill>
              </a:rPr>
              <a:t>False,smoothcont</a:t>
            </a:r>
            <a:r>
              <a:rPr lang="en-US" sz="1600" dirty="0">
                <a:solidFill>
                  <a:srgbClr val="022D57"/>
                </a:solidFill>
              </a:rPr>
              <a:t>=0,dataversion=2)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map_and_scatter</a:t>
            </a:r>
            <a:r>
              <a:rPr lang="en-US" sz="1600" dirty="0">
                <a:solidFill>
                  <a:srgbClr val="022D57"/>
                </a:solidFill>
              </a:rPr>
              <a:t>(</a:t>
            </a:r>
            <a:r>
              <a:rPr lang="en-US" sz="1600" dirty="0" err="1">
                <a:solidFill>
                  <a:srgbClr val="022D57"/>
                </a:solidFill>
              </a:rPr>
              <a:t>patchx,patchy,mapydata,dateobs,LonSys</a:t>
            </a:r>
            <a:r>
              <a:rPr lang="en-US" sz="1600" dirty="0">
                <a:solidFill>
                  <a:srgbClr val="022D57"/>
                </a:solidFill>
              </a:rPr>
              <a:t>, LatLims,LonLimsWest,LonRng,PlotCM,fnout,amfdata,coef,txin,xlow,xhigh,ylow,yhigh,figxy,ct,pathout,Ltitle,Rtitle,Level='L3',cont=</a:t>
            </a:r>
            <a:r>
              <a:rPr lang="en-US" sz="1600" dirty="0" err="1">
                <a:solidFill>
                  <a:srgbClr val="022D57"/>
                </a:solidFill>
              </a:rPr>
              <a:t>False,FiveMicron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False,cbar_rev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False,swap_xy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False,axis_inv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False,cbar_title</a:t>
            </a:r>
            <a:r>
              <a:rPr lang="en-US" sz="1600" dirty="0">
                <a:solidFill>
                  <a:srgbClr val="022D57"/>
                </a:solidFill>
              </a:rPr>
              <a:t>="Test", </a:t>
            </a:r>
            <a:r>
              <a:rPr lang="en-US" sz="1600" dirty="0" err="1">
                <a:solidFill>
                  <a:srgbClr val="022D57"/>
                </a:solidFill>
              </a:rPr>
              <a:t>suptitle</a:t>
            </a:r>
            <a:r>
              <a:rPr lang="en-US" sz="1600" dirty="0">
                <a:solidFill>
                  <a:srgbClr val="022D57"/>
                </a:solidFill>
              </a:rPr>
              <a:t>="</a:t>
            </a:r>
            <a:r>
              <a:rPr lang="en-US" sz="1600" dirty="0" err="1">
                <a:solidFill>
                  <a:srgbClr val="022D57"/>
                </a:solidFill>
              </a:rPr>
              <a:t>Test",ROI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False,smoothcont</a:t>
            </a:r>
            <a:r>
              <a:rPr lang="en-US" sz="1600" dirty="0">
                <a:solidFill>
                  <a:srgbClr val="022D57"/>
                </a:solidFill>
              </a:rPr>
              <a:t>=0,dataversion=2)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7030A0"/>
                </a:solidFill>
              </a:rPr>
              <a:t>map_and_scatter_SCubed</a:t>
            </a:r>
            <a:r>
              <a:rPr lang="en-US" sz="1600" dirty="0">
                <a:solidFill>
                  <a:srgbClr val="022D57"/>
                </a:solidFill>
              </a:rPr>
              <a:t>(patchx,patchy,mapydata,RGBpatch,dateobs,LonSys,LatLims,LonLimsWest,LonRng,PlotCM,fnout,amfdata,coef,txin,xlow,xhigh,ylow,yhigh,figxy,ct,pathout,Ltitle,Rtitle,Level='L3',cont=</a:t>
            </a:r>
            <a:r>
              <a:rPr lang="en-US" sz="1600" dirty="0" err="1">
                <a:solidFill>
                  <a:srgbClr val="022D57"/>
                </a:solidFill>
              </a:rPr>
              <a:t>False,FiveMicron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False,cbar_rev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False,swap_xy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False,axis_inv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False,cbar_title</a:t>
            </a:r>
            <a:r>
              <a:rPr lang="en-US" sz="1600" dirty="0">
                <a:solidFill>
                  <a:srgbClr val="022D57"/>
                </a:solidFill>
              </a:rPr>
              <a:t>="Test",</a:t>
            </a:r>
            <a:r>
              <a:rPr lang="en-US" sz="1600" dirty="0" err="1">
                <a:solidFill>
                  <a:srgbClr val="022D57"/>
                </a:solidFill>
              </a:rPr>
              <a:t>suptitle</a:t>
            </a:r>
            <a:r>
              <a:rPr lang="en-US" sz="1600" dirty="0">
                <a:solidFill>
                  <a:srgbClr val="022D57"/>
                </a:solidFill>
              </a:rPr>
              <a:t>="</a:t>
            </a:r>
            <a:r>
              <a:rPr lang="en-US" sz="1600" dirty="0" err="1">
                <a:solidFill>
                  <a:srgbClr val="022D57"/>
                </a:solidFill>
              </a:rPr>
              <a:t>Test",ROI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False,smoothcont</a:t>
            </a:r>
            <a:r>
              <a:rPr lang="en-US" sz="1600" dirty="0">
                <a:solidFill>
                  <a:srgbClr val="022D57"/>
                </a:solidFill>
              </a:rPr>
              <a:t>=0,dataversion=2)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map_cloudsurface</a:t>
            </a:r>
            <a:r>
              <a:rPr lang="en-US" sz="1600" dirty="0">
                <a:solidFill>
                  <a:srgbClr val="022D57"/>
                </a:solidFill>
              </a:rPr>
              <a:t>(PCld_patch,fNH3_patch_mb,RGB4Display, </a:t>
            </a:r>
            <a:r>
              <a:rPr lang="en-US" sz="1600" dirty="0" err="1">
                <a:solidFill>
                  <a:srgbClr val="022D57"/>
                </a:solidFill>
              </a:rPr>
              <a:t>HDRCld</a:t>
            </a:r>
            <a:r>
              <a:rPr lang="en-US" sz="1600" dirty="0">
                <a:solidFill>
                  <a:srgbClr val="022D57"/>
                </a:solidFill>
              </a:rPr>
              <a:t>, HDRfNH3, </a:t>
            </a:r>
            <a:r>
              <a:rPr lang="en-US" sz="1600" dirty="0" err="1">
                <a:solidFill>
                  <a:srgbClr val="022D57"/>
                </a:solidFill>
              </a:rPr>
              <a:t>timeRGB</a:t>
            </a:r>
            <a:r>
              <a:rPr lang="en-US" sz="1600" dirty="0">
                <a:solidFill>
                  <a:srgbClr val="022D57"/>
                </a:solidFill>
              </a:rPr>
              <a:t>, </a:t>
            </a:r>
            <a:r>
              <a:rPr lang="en-US" sz="1600" dirty="0" err="1">
                <a:solidFill>
                  <a:srgbClr val="022D57"/>
                </a:solidFill>
              </a:rPr>
              <a:t>LonSys</a:t>
            </a:r>
            <a:r>
              <a:rPr lang="en-US" sz="1600" dirty="0">
                <a:solidFill>
                  <a:srgbClr val="022D57"/>
                </a:solidFill>
              </a:rPr>
              <a:t>, </a:t>
            </a:r>
            <a:r>
              <a:rPr lang="en-US" sz="1600" dirty="0" err="1">
                <a:solidFill>
                  <a:srgbClr val="022D57"/>
                </a:solidFill>
              </a:rPr>
              <a:t>LatLims,LonLims,LonRng,PlotCM,pathout</a:t>
            </a:r>
            <a:r>
              <a:rPr lang="en-US" sz="1600" dirty="0">
                <a:solidFill>
                  <a:srgbClr val="022D57"/>
                </a:solidFill>
              </a:rPr>
              <a:t>, </a:t>
            </a:r>
            <a:r>
              <a:rPr lang="en-US" sz="1600" dirty="0" err="1">
                <a:solidFill>
                  <a:srgbClr val="022D57"/>
                </a:solidFill>
              </a:rPr>
              <a:t>dataversion</a:t>
            </a:r>
            <a:r>
              <a:rPr lang="en-US" sz="1600" dirty="0">
                <a:solidFill>
                  <a:srgbClr val="022D57"/>
                </a:solidFill>
              </a:rPr>
              <a:t>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plot_ALL_blob_features</a:t>
            </a:r>
            <a:r>
              <a:rPr lang="en-US" sz="1600" dirty="0">
                <a:solidFill>
                  <a:srgbClr val="022D57"/>
                </a:solidFill>
              </a:rPr>
              <a:t>(</a:t>
            </a:r>
            <a:r>
              <a:rPr lang="en-US" sz="1600" dirty="0" err="1">
                <a:solidFill>
                  <a:srgbClr val="022D57"/>
                </a:solidFill>
              </a:rPr>
              <a:t>proj</a:t>
            </a:r>
            <a:r>
              <a:rPr lang="en-US" sz="1600" dirty="0">
                <a:solidFill>
                  <a:srgbClr val="022D57"/>
                </a:solidFill>
              </a:rPr>
              <a:t>='</a:t>
            </a:r>
            <a:r>
              <a:rPr lang="en-US" sz="1600" dirty="0" err="1">
                <a:solidFill>
                  <a:srgbClr val="022D57"/>
                </a:solidFill>
              </a:rPr>
              <a:t>NEZ',dataset</a:t>
            </a:r>
            <a:r>
              <a:rPr lang="en-US" sz="1600" dirty="0">
                <a:solidFill>
                  <a:srgbClr val="022D57"/>
                </a:solidFill>
              </a:rPr>
              <a:t>="2024-2025 NEZ")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plot_contours_on_patch</a:t>
            </a:r>
            <a:r>
              <a:rPr lang="en-US" sz="1600" dirty="0">
                <a:solidFill>
                  <a:srgbClr val="022D57"/>
                </a:solidFill>
              </a:rPr>
              <a:t>(ax,CH4Abs_conv,LatLims,LonLims, </a:t>
            </a:r>
            <a:r>
              <a:rPr lang="en-US" sz="1600" dirty="0" err="1">
                <a:solidFill>
                  <a:srgbClr val="022D57"/>
                </a:solidFill>
              </a:rPr>
              <a:t>lvls</a:t>
            </a:r>
            <a:r>
              <a:rPr lang="en-US" sz="1600" dirty="0">
                <a:solidFill>
                  <a:srgbClr val="022D57"/>
                </a:solidFill>
              </a:rPr>
              <a:t>=[0.71,0.73,0.75,0.77,0.79],</a:t>
            </a:r>
            <a:r>
              <a:rPr lang="en-US" sz="1600" dirty="0" err="1">
                <a:solidFill>
                  <a:srgbClr val="022D57"/>
                </a:solidFill>
              </a:rPr>
              <a:t>frmt</a:t>
            </a:r>
            <a:r>
              <a:rPr lang="en-US" sz="1600" dirty="0">
                <a:solidFill>
                  <a:srgbClr val="022D57"/>
                </a:solidFill>
              </a:rPr>
              <a:t>='%3.1e’, </a:t>
            </a:r>
            <a:r>
              <a:rPr lang="en-US" sz="1600" dirty="0" err="1">
                <a:solidFill>
                  <a:srgbClr val="022D57"/>
                </a:solidFill>
              </a:rPr>
              <a:t>clr</a:t>
            </a:r>
            <a:r>
              <a:rPr lang="en-US" sz="1600" dirty="0">
                <a:solidFill>
                  <a:srgbClr val="022D57"/>
                </a:solidFill>
              </a:rPr>
              <a:t>='w')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8C67D-2100-0D93-6118-C52F7025E856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1F1CE139-6C12-565C-C570-816388030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09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112DD-9E96-77DA-1263-7C0073A85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4093-11C9-A696-F3CF-19B34078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1" y="297712"/>
            <a:ext cx="10363199" cy="1030156"/>
          </a:xfrm>
          <a:solidFill>
            <a:srgbClr val="022D57"/>
          </a:solidFill>
        </p:spPr>
        <p:txBody>
          <a:bodyPr/>
          <a:lstStyle/>
          <a:p>
            <a:r>
              <a:rPr lang="en-US" dirty="0">
                <a:solidFill>
                  <a:srgbClr val="C39F7B"/>
                </a:solidFill>
              </a:rPr>
              <a:t>Full Module Listing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A9929-3C9A-AFBB-0AC2-4DDC81664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1003280" cy="47346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plot_map_scatter</a:t>
            </a:r>
            <a:r>
              <a:rPr lang="en-US" sz="1600" dirty="0">
                <a:solidFill>
                  <a:srgbClr val="022D57"/>
                </a:solidFill>
              </a:rPr>
              <a:t>(patch1,patch2,Real_CM2,LatLims,axscor,PCldlow,PCldhigh, fNH3low,fNH3high,FiveMicron,axis_inv=</a:t>
            </a:r>
            <a:r>
              <a:rPr lang="en-US" sz="1600" dirty="0" err="1">
                <a:solidFill>
                  <a:srgbClr val="022D57"/>
                </a:solidFill>
              </a:rPr>
              <a:t>False,Bands</a:t>
            </a:r>
            <a:r>
              <a:rPr lang="en-US" sz="1600" dirty="0">
                <a:solidFill>
                  <a:srgbClr val="022D57"/>
                </a:solidFill>
              </a:rPr>
              <a:t>=False, </a:t>
            </a:r>
            <a:r>
              <a:rPr lang="en-US" sz="1600" dirty="0" err="1">
                <a:solidFill>
                  <a:srgbClr val="022D57"/>
                </a:solidFill>
              </a:rPr>
              <a:t>dataversion</a:t>
            </a:r>
            <a:r>
              <a:rPr lang="en-US" sz="1600" dirty="0">
                <a:solidFill>
                  <a:srgbClr val="022D57"/>
                </a:solidFill>
              </a:rPr>
              <a:t>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plot_patch</a:t>
            </a:r>
            <a:r>
              <a:rPr lang="en-US" sz="1600" dirty="0">
                <a:solidFill>
                  <a:srgbClr val="022D57"/>
                </a:solidFill>
              </a:rPr>
              <a:t>(patch, </a:t>
            </a:r>
            <a:r>
              <a:rPr lang="en-US" sz="1600" dirty="0" err="1">
                <a:solidFill>
                  <a:srgbClr val="022D57"/>
                </a:solidFill>
              </a:rPr>
              <a:t>LatLims</a:t>
            </a:r>
            <a:r>
              <a:rPr lang="en-US" sz="1600" dirty="0">
                <a:solidFill>
                  <a:srgbClr val="022D57"/>
                </a:solidFill>
              </a:rPr>
              <a:t>, </a:t>
            </a:r>
            <a:r>
              <a:rPr lang="en-US" sz="1600" dirty="0" err="1">
                <a:solidFill>
                  <a:srgbClr val="022D57"/>
                </a:solidFill>
              </a:rPr>
              <a:t>LonLims</a:t>
            </a:r>
            <a:r>
              <a:rPr lang="en-US" sz="1600" dirty="0">
                <a:solidFill>
                  <a:srgbClr val="022D57"/>
                </a:solidFill>
              </a:rPr>
              <a:t>, CM2, </a:t>
            </a:r>
            <a:r>
              <a:rPr lang="en-US" sz="1600" dirty="0" err="1">
                <a:solidFill>
                  <a:srgbClr val="022D57"/>
                </a:solidFill>
              </a:rPr>
              <a:t>LonRng</a:t>
            </a:r>
            <a:r>
              <a:rPr lang="en-US" sz="1600" dirty="0">
                <a:solidFill>
                  <a:srgbClr val="022D57"/>
                </a:solidFill>
              </a:rPr>
              <a:t>, </a:t>
            </a:r>
            <a:r>
              <a:rPr lang="en-US" sz="1600" dirty="0" err="1">
                <a:solidFill>
                  <a:srgbClr val="022D57"/>
                </a:solidFill>
              </a:rPr>
              <a:t>colorscale</a:t>
            </a:r>
            <a:r>
              <a:rPr lang="en-US" sz="1600" dirty="0">
                <a:solidFill>
                  <a:srgbClr val="022D57"/>
                </a:solidFill>
              </a:rPr>
              <a:t>, axis, </a:t>
            </a:r>
            <a:r>
              <a:rPr lang="en-US" sz="1600" dirty="0" err="1">
                <a:solidFill>
                  <a:srgbClr val="022D57"/>
                </a:solidFill>
              </a:rPr>
              <a:t>cbarplot</a:t>
            </a:r>
            <a:r>
              <a:rPr lang="en-US" sz="1600" dirty="0">
                <a:solidFill>
                  <a:srgbClr val="022D57"/>
                </a:solidFill>
              </a:rPr>
              <a:t>=True, </a:t>
            </a:r>
            <a:r>
              <a:rPr lang="en-US" sz="1600" dirty="0" err="1">
                <a:solidFill>
                  <a:srgbClr val="022D57"/>
                </a:solidFill>
              </a:rPr>
              <a:t>cbar_title</a:t>
            </a:r>
            <a:r>
              <a:rPr lang="en-US" sz="1600" dirty="0">
                <a:solidFill>
                  <a:srgbClr val="022D57"/>
                </a:solidFill>
              </a:rPr>
              <a:t>="Test", </a:t>
            </a:r>
            <a:r>
              <a:rPr lang="en-US" sz="1600" dirty="0" err="1">
                <a:solidFill>
                  <a:srgbClr val="022D57"/>
                </a:solidFill>
              </a:rPr>
              <a:t>cbar_reverse</a:t>
            </a:r>
            <a:r>
              <a:rPr lang="en-US" sz="1600" dirty="0">
                <a:solidFill>
                  <a:srgbClr val="022D57"/>
                </a:solidFill>
              </a:rPr>
              <a:t>=False, </a:t>
            </a:r>
            <a:r>
              <a:rPr lang="en-US" sz="1600" dirty="0" err="1">
                <a:solidFill>
                  <a:srgbClr val="022D57"/>
                </a:solidFill>
              </a:rPr>
              <a:t>vn</a:t>
            </a:r>
            <a:r>
              <a:rPr lang="en-US" sz="1600" dirty="0">
                <a:solidFill>
                  <a:srgbClr val="022D57"/>
                </a:solidFill>
              </a:rPr>
              <a:t>=0.10, </a:t>
            </a:r>
            <a:r>
              <a:rPr lang="en-US" sz="1600" dirty="0" err="1">
                <a:solidFill>
                  <a:srgbClr val="022D57"/>
                </a:solidFill>
              </a:rPr>
              <a:t>vx</a:t>
            </a:r>
            <a:r>
              <a:rPr lang="en-US" sz="1600" dirty="0">
                <a:solidFill>
                  <a:srgbClr val="022D57"/>
                </a:solidFill>
              </a:rPr>
              <a:t>=0.20, n=6, alpha=1.0, </a:t>
            </a:r>
            <a:r>
              <a:rPr lang="en-US" sz="1600" dirty="0" err="1">
                <a:solidFill>
                  <a:srgbClr val="022D57"/>
                </a:solidFill>
              </a:rPr>
              <a:t>cbarvis</a:t>
            </a:r>
            <a:r>
              <a:rPr lang="en-US" sz="1600" dirty="0">
                <a:solidFill>
                  <a:srgbClr val="022D57"/>
                </a:solidFill>
              </a:rPr>
              <a:t>=True, anchor='W’)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plot_roi_scatter</a:t>
            </a:r>
            <a:r>
              <a:rPr lang="en-US" sz="1600" dirty="0">
                <a:solidFill>
                  <a:srgbClr val="022D57"/>
                </a:solidFill>
              </a:rPr>
              <a:t>(patch1,patch2,Real_CM2,LatLims,LonLims,axscor,PCldlow,PCldhigh, fNH3low,fNH3high,FiveMicron,axis_inv=</a:t>
            </a:r>
            <a:r>
              <a:rPr lang="en-US" sz="1600" dirty="0" err="1">
                <a:solidFill>
                  <a:srgbClr val="022D57"/>
                </a:solidFill>
              </a:rPr>
              <a:t>False,ROI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False,amfpatch</a:t>
            </a:r>
            <a:r>
              <a:rPr lang="en-US" sz="1600" dirty="0">
                <a:solidFill>
                  <a:srgbClr val="022D57"/>
                </a:solidFill>
              </a:rPr>
              <a:t>=False, </a:t>
            </a:r>
            <a:r>
              <a:rPr lang="en-US" sz="1600" dirty="0" err="1">
                <a:solidFill>
                  <a:srgbClr val="022D57"/>
                </a:solidFill>
              </a:rPr>
              <a:t>dataversion</a:t>
            </a:r>
            <a:r>
              <a:rPr lang="en-US" sz="1600" dirty="0">
                <a:solidFill>
                  <a:srgbClr val="022D57"/>
                </a:solidFill>
              </a:rPr>
              <a:t>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022D57"/>
                </a:solidFill>
              </a:rPr>
              <a:t>read_fits_map_L3_V2</a:t>
            </a:r>
            <a:r>
              <a:rPr lang="en-US" sz="1600" dirty="0">
                <a:solidFill>
                  <a:srgbClr val="022D57"/>
                </a:solidFill>
              </a:rPr>
              <a:t>(</a:t>
            </a:r>
            <a:r>
              <a:rPr lang="en-US" sz="1600" dirty="0" err="1">
                <a:solidFill>
                  <a:srgbClr val="022D57"/>
                </a:solidFill>
              </a:rPr>
              <a:t>obskey</a:t>
            </a:r>
            <a:r>
              <a:rPr lang="en-US" sz="1600" dirty="0">
                <a:solidFill>
                  <a:srgbClr val="022D57"/>
                </a:solidFill>
              </a:rPr>
              <a:t>="20251016UTa",imagetype="</a:t>
            </a:r>
            <a:r>
              <a:rPr lang="en-US" sz="1600" dirty="0" err="1">
                <a:solidFill>
                  <a:srgbClr val="022D57"/>
                </a:solidFill>
              </a:rPr>
              <a:t>Map",Level</a:t>
            </a:r>
            <a:r>
              <a:rPr lang="en-US" sz="1600" dirty="0">
                <a:solidFill>
                  <a:srgbClr val="022D57"/>
                </a:solidFill>
              </a:rPr>
              <a:t>="L3", target="Jupiter",</a:t>
            </a:r>
            <a:r>
              <a:rPr lang="en-US" sz="1600" dirty="0" err="1">
                <a:solidFill>
                  <a:srgbClr val="022D57"/>
                </a:solidFill>
              </a:rPr>
              <a:t>LonSys</a:t>
            </a:r>
            <a:r>
              <a:rPr lang="en-US" sz="1600" dirty="0">
                <a:solidFill>
                  <a:srgbClr val="022D57"/>
                </a:solidFill>
              </a:rPr>
              <a:t>='3', </a:t>
            </a:r>
            <a:r>
              <a:rPr lang="en-US" sz="1600" dirty="0" err="1">
                <a:solidFill>
                  <a:srgbClr val="022D57"/>
                </a:solidFill>
              </a:rPr>
              <a:t>LimbCorrection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False,dataversion</a:t>
            </a:r>
            <a:r>
              <a:rPr lang="en-US" sz="1600" dirty="0">
                <a:solidFill>
                  <a:srgbClr val="022D57"/>
                </a:solidFill>
              </a:rPr>
              <a:t>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 err="1">
                <a:solidFill>
                  <a:srgbClr val="022D57"/>
                </a:solidFill>
              </a:rPr>
              <a:t>ROI_Script</a:t>
            </a:r>
            <a:r>
              <a:rPr lang="en-US" sz="1600" dirty="0">
                <a:solidFill>
                  <a:srgbClr val="022D57"/>
                </a:solidFill>
              </a:rPr>
              <a:t>(collection="20241202-20241202 NEDF 340",dateformat="%b:%d", </a:t>
            </a:r>
            <a:r>
              <a:rPr lang="en-US" sz="1600" dirty="0" err="1">
                <a:solidFill>
                  <a:srgbClr val="022D57"/>
                </a:solidFill>
              </a:rPr>
              <a:t>ctbls</a:t>
            </a:r>
            <a:r>
              <a:rPr lang="en-US" sz="1600" dirty="0">
                <a:solidFill>
                  <a:srgbClr val="022D57"/>
                </a:solidFill>
              </a:rPr>
              <a:t>=["</a:t>
            </a:r>
            <a:r>
              <a:rPr lang="en-US" sz="1600" dirty="0" err="1">
                <a:solidFill>
                  <a:srgbClr val="022D57"/>
                </a:solidFill>
              </a:rPr>
              <a:t>terrain_r","Blues</a:t>
            </a:r>
            <a:r>
              <a:rPr lang="en-US" sz="1600" dirty="0">
                <a:solidFill>
                  <a:srgbClr val="022D57"/>
                </a:solidFill>
              </a:rPr>
              <a:t>"], </a:t>
            </a:r>
            <a:r>
              <a:rPr lang="en-US" sz="1600" dirty="0" err="1">
                <a:solidFill>
                  <a:srgbClr val="022D57"/>
                </a:solidFill>
              </a:rPr>
              <a:t>LatLims</a:t>
            </a:r>
            <a:r>
              <a:rPr lang="en-US" sz="1600" dirty="0">
                <a:solidFill>
                  <a:srgbClr val="022D57"/>
                </a:solidFill>
              </a:rPr>
              <a:t>=[75,105],</a:t>
            </a:r>
            <a:r>
              <a:rPr lang="en-US" sz="1600" dirty="0" err="1">
                <a:solidFill>
                  <a:srgbClr val="022D57"/>
                </a:solidFill>
              </a:rPr>
              <a:t>LonRng</a:t>
            </a:r>
            <a:r>
              <a:rPr lang="en-US" sz="1600" dirty="0">
                <a:solidFill>
                  <a:srgbClr val="022D57"/>
                </a:solidFill>
              </a:rPr>
              <a:t>=20,LonSys='1',close=</a:t>
            </a:r>
            <a:r>
              <a:rPr lang="en-US" sz="1600" dirty="0" err="1">
                <a:solidFill>
                  <a:srgbClr val="022D57"/>
                </a:solidFill>
              </a:rPr>
              <a:t>False,coefs</a:t>
            </a:r>
            <a:r>
              <a:rPr lang="en-US" sz="1600" dirty="0">
                <a:solidFill>
                  <a:srgbClr val="022D57"/>
                </a:solidFill>
              </a:rPr>
              <a:t>=[0.75,0.45], </a:t>
            </a:r>
            <a:r>
              <a:rPr lang="en-US" sz="1600" dirty="0" err="1">
                <a:solidFill>
                  <a:srgbClr val="022D57"/>
                </a:solidFill>
              </a:rPr>
              <a:t>localmax</a:t>
            </a:r>
            <a:r>
              <a:rPr lang="en-US" sz="1600" dirty="0">
                <a:solidFill>
                  <a:srgbClr val="022D57"/>
                </a:solidFill>
              </a:rPr>
              <a:t>=</a:t>
            </a:r>
            <a:r>
              <a:rPr lang="en-US" sz="1600" dirty="0" err="1">
                <a:solidFill>
                  <a:srgbClr val="022D57"/>
                </a:solidFill>
              </a:rPr>
              <a:t>False,writecatalog</a:t>
            </a:r>
            <a:r>
              <a:rPr lang="en-US" sz="1600" dirty="0">
                <a:solidFill>
                  <a:srgbClr val="022D57"/>
                </a:solidFill>
              </a:rPr>
              <a:t>=False)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B1CB15-F6FE-6C4D-631E-D9B906AB71ED}"/>
              </a:ext>
            </a:extLst>
          </p:cNvPr>
          <p:cNvSpPr/>
          <p:nvPr/>
        </p:nvSpPr>
        <p:spPr>
          <a:xfrm>
            <a:off x="1" y="297712"/>
            <a:ext cx="1828800" cy="1030156"/>
          </a:xfrm>
          <a:prstGeom prst="rect">
            <a:avLst/>
          </a:prstGeom>
          <a:solidFill>
            <a:srgbClr val="022D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science institute&#10;&#10;AI-generated content may be incorrect.">
            <a:extLst>
              <a:ext uri="{FF2B5EF4-FFF2-40B4-BE49-F238E27FC236}">
                <a16:creationId xmlns:a16="http://schemas.microsoft.com/office/drawing/2014/main" id="{E0856DBC-3795-29B7-2D7C-72DADD6D4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5" y="45244"/>
            <a:ext cx="1549640" cy="154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3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ECFE-2CC7-4B2C-DB78-FF52A177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376F3-528B-A065-4858-5B94C5BF4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Routines Calling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43F6-F5B4-7FE1-DD67-D89A6E390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9"/>
            <a:ext cx="10515600" cy="89207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Needs major update since splitting creation, plotting, and analysis routines – SMH 2025-11-20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E0B14-B4A8-1104-431C-8AA55BFCAABF}"/>
              </a:ext>
            </a:extLst>
          </p:cNvPr>
          <p:cNvSpPr/>
          <p:nvPr/>
        </p:nvSpPr>
        <p:spPr>
          <a:xfrm>
            <a:off x="4270766" y="3728603"/>
            <a:ext cx="3650469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ROI_Script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0823F7-6656-E353-5E66-C557B369A2C3}"/>
              </a:ext>
            </a:extLst>
          </p:cNvPr>
          <p:cNvSpPr/>
          <p:nvPr/>
        </p:nvSpPr>
        <p:spPr>
          <a:xfrm>
            <a:off x="279616" y="5061212"/>
            <a:ext cx="2441006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L3_Jup_Map_Plot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AD57BC-6694-3FC9-EFD6-1C5F2CEEBEDF}"/>
              </a:ext>
            </a:extLst>
          </p:cNvPr>
          <p:cNvSpPr/>
          <p:nvPr/>
        </p:nvSpPr>
        <p:spPr>
          <a:xfrm>
            <a:off x="2873775" y="5065574"/>
            <a:ext cx="2908967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MakeContiguousMap</a:t>
            </a:r>
            <a:endParaRPr lang="en-US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6F000DF-264D-9ED6-D81A-414EAB3A63E6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5400000">
            <a:off x="4843097" y="3812671"/>
            <a:ext cx="738066" cy="1767743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F9981E7-D754-E35F-71F4-6F6DEA8062B6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3431210" y="2396421"/>
            <a:ext cx="733705" cy="4595881"/>
          </a:xfrm>
          <a:prstGeom prst="bentConnector3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26DA95-B069-E1C8-D7BB-71887DC91F4C}"/>
              </a:ext>
            </a:extLst>
          </p:cNvPr>
          <p:cNvSpPr/>
          <p:nvPr/>
        </p:nvSpPr>
        <p:spPr>
          <a:xfrm>
            <a:off x="9009376" y="5065108"/>
            <a:ext cx="2908967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NEDF_ROI_collections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E7D658-4F04-E33F-A4F0-F6D850D91857}"/>
              </a:ext>
            </a:extLst>
          </p:cNvPr>
          <p:cNvSpPr/>
          <p:nvPr/>
        </p:nvSpPr>
        <p:spPr>
          <a:xfrm>
            <a:off x="5941576" y="5069296"/>
            <a:ext cx="2908967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get_map_collection</a:t>
            </a:r>
            <a:endParaRPr lang="en-US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973C380-2139-C9B4-9A3F-5DC8E8CF7C6F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 rot="16200000" flipH="1">
            <a:off x="6375135" y="4048373"/>
            <a:ext cx="741788" cy="1300059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B93E260-0852-C3DA-54C9-219202A39CFE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rot="16200000" flipH="1">
            <a:off x="7911130" y="2512378"/>
            <a:ext cx="737600" cy="4367860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183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EAE4C-6C1B-58C8-0B5E-4889B547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CF75-02C1-484E-6ED4-84EAC18D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Routines Calling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E7FE-8EBE-A592-88CF-20811421E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9"/>
            <a:ext cx="10515600" cy="89207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Needs major update since splitting creation, plotting, and analysis routines – SMH 2025-11-20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CE876B4-5BA6-9329-3C90-4EA09E7AB35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2689063" y="2273965"/>
            <a:ext cx="1608263" cy="4321749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899705-0BF2-A7E8-3554-64DF2F638B79}"/>
              </a:ext>
            </a:extLst>
          </p:cNvPr>
          <p:cNvSpPr/>
          <p:nvPr/>
        </p:nvSpPr>
        <p:spPr>
          <a:xfrm>
            <a:off x="4433567" y="3031802"/>
            <a:ext cx="2441006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L3_Jup_Map_Plot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BC36D6-23C8-71FC-FE02-DC1201F4FB26}"/>
              </a:ext>
            </a:extLst>
          </p:cNvPr>
          <p:cNvSpPr/>
          <p:nvPr/>
        </p:nvSpPr>
        <p:spPr>
          <a:xfrm>
            <a:off x="362663" y="5238970"/>
            <a:ext cx="1939314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make_patch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088B1F-F83F-7618-1F23-E8A6992A77DE}"/>
              </a:ext>
            </a:extLst>
          </p:cNvPr>
          <p:cNvSpPr/>
          <p:nvPr/>
        </p:nvSpPr>
        <p:spPr>
          <a:xfrm>
            <a:off x="2634321" y="5246279"/>
            <a:ext cx="2908967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read_fits_map_L2_L3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4FED5FA-DABF-B93D-3671-8FDF8B924013}"/>
              </a:ext>
            </a:extLst>
          </p:cNvPr>
          <p:cNvSpPr/>
          <p:nvPr/>
        </p:nvSpPr>
        <p:spPr>
          <a:xfrm>
            <a:off x="5875631" y="5238972"/>
            <a:ext cx="2908967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map_and_context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408430-6FFB-51FE-DD6C-CB199ABE508A}"/>
              </a:ext>
            </a:extLst>
          </p:cNvPr>
          <p:cNvSpPr/>
          <p:nvPr/>
        </p:nvSpPr>
        <p:spPr>
          <a:xfrm>
            <a:off x="9006159" y="5238972"/>
            <a:ext cx="2908967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map_and_scatter</a:t>
            </a:r>
            <a:endParaRPr lang="en-US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753BABF-6F0E-B9E2-7839-F366A3AAEB82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rot="16200000" flipH="1">
            <a:off x="5687961" y="3596817"/>
            <a:ext cx="1608265" cy="1676045"/>
          </a:xfrm>
          <a:prstGeom prst="bentConnector3">
            <a:avLst/>
          </a:prstGeom>
          <a:ln w="635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928408B-47E6-74CE-758F-2FD2320162A2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 rot="16200000" flipH="1">
            <a:off x="7253224" y="2031553"/>
            <a:ext cx="1608265" cy="4806572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43BB493-6BA7-4AC9-7F22-058A5BC0C23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4063653" y="3655859"/>
            <a:ext cx="1615571" cy="1565266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569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DC59-8B92-023F-7C38-176965AE0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C344-A475-2C57-B556-7915E9ED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Routines Calling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5F633-5F08-44A5-3B4E-1E7D3527A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9"/>
            <a:ext cx="10515600" cy="892072"/>
          </a:xfrm>
        </p:spPr>
        <p:txBody>
          <a:bodyPr>
            <a:noAutofit/>
          </a:bodyPr>
          <a:lstStyle/>
          <a:p>
            <a:pPr marL="609608" indent="-609608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C00000"/>
                </a:solidFill>
              </a:rPr>
              <a:t>Can we make </a:t>
            </a:r>
            <a:r>
              <a:rPr lang="en-US" sz="2000" dirty="0" err="1">
                <a:solidFill>
                  <a:srgbClr val="C00000"/>
                </a:solidFill>
              </a:rPr>
              <a:t>make_patch</a:t>
            </a:r>
            <a:r>
              <a:rPr lang="en-US" sz="2000" dirty="0">
                <a:solidFill>
                  <a:srgbClr val="C00000"/>
                </a:solidFill>
              </a:rPr>
              <a:t>, </a:t>
            </a:r>
            <a:r>
              <a:rPr lang="en-US" sz="2000" dirty="0" err="1">
                <a:solidFill>
                  <a:srgbClr val="C00000"/>
                </a:solidFill>
              </a:rPr>
              <a:t>plot_patch</a:t>
            </a:r>
            <a:r>
              <a:rPr lang="en-US" sz="2000" dirty="0">
                <a:solidFill>
                  <a:srgbClr val="C00000"/>
                </a:solidFill>
              </a:rPr>
              <a:t>, and make_contours_CH4_patch all the same level of call and call them in sequence?</a:t>
            </a:r>
          </a:p>
          <a:p>
            <a:pPr marL="609608" indent="-609608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C00000"/>
                </a:solidFill>
              </a:rPr>
              <a:t>Can we set the color table for the map and scatter to “Blues” rather than greys</a:t>
            </a:r>
          </a:p>
          <a:p>
            <a:pPr marL="609608" indent="-609608"/>
            <a:r>
              <a:rPr lang="en-US" sz="2000" dirty="0">
                <a:solidFill>
                  <a:srgbClr val="C00000"/>
                </a:solidFill>
              </a:rPr>
              <a:t>Can we provide an alternative that over plots in red and black only the most extreme contours of fNH3 and </a:t>
            </a:r>
            <a:r>
              <a:rPr lang="en-US" sz="2000" dirty="0" err="1">
                <a:solidFill>
                  <a:srgbClr val="C00000"/>
                </a:solidFill>
              </a:rPr>
              <a:t>PCld</a:t>
            </a:r>
            <a:r>
              <a:rPr lang="en-US" sz="2000" dirty="0">
                <a:solidFill>
                  <a:srgbClr val="C00000"/>
                </a:solidFill>
              </a:rPr>
              <a:t>? This would match what was developed for the EPSC abstract in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977E15-9EC1-7F14-0EBC-1CCF21F027DE}"/>
              </a:ext>
            </a:extLst>
          </p:cNvPr>
          <p:cNvSpPr/>
          <p:nvPr/>
        </p:nvSpPr>
        <p:spPr>
          <a:xfrm>
            <a:off x="451495" y="5771816"/>
            <a:ext cx="1939314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make_patch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E82D27-6634-99FC-0675-0D62C664317F}"/>
              </a:ext>
            </a:extLst>
          </p:cNvPr>
          <p:cNvSpPr/>
          <p:nvPr/>
        </p:nvSpPr>
        <p:spPr>
          <a:xfrm>
            <a:off x="4928074" y="5771816"/>
            <a:ext cx="3695516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plot_contours_on_patch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D0B181-6BF1-D83B-0B8A-D39E291E7CB7}"/>
              </a:ext>
            </a:extLst>
          </p:cNvPr>
          <p:cNvSpPr/>
          <p:nvPr/>
        </p:nvSpPr>
        <p:spPr>
          <a:xfrm>
            <a:off x="3033023" y="5771816"/>
            <a:ext cx="1624537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plot_patch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19FED2-8B9A-EDE2-E568-6866364288EE}"/>
              </a:ext>
            </a:extLst>
          </p:cNvPr>
          <p:cNvSpPr/>
          <p:nvPr/>
        </p:nvSpPr>
        <p:spPr>
          <a:xfrm>
            <a:off x="9062272" y="5771816"/>
            <a:ext cx="2502635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make_patch_RGB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2565F1-45CC-3EB2-8887-A32AFA9AE92C}"/>
              </a:ext>
            </a:extLst>
          </p:cNvPr>
          <p:cNvSpPr/>
          <p:nvPr/>
        </p:nvSpPr>
        <p:spPr>
          <a:xfrm>
            <a:off x="4179921" y="3653591"/>
            <a:ext cx="2908967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map_and_context</a:t>
            </a:r>
            <a:endParaRPr lang="en-US" dirty="0"/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1C161A02-44FB-A4D3-C64A-26AD39789F67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16200000" flipH="1">
            <a:off x="7214337" y="2672563"/>
            <a:ext cx="1519321" cy="4679186"/>
          </a:xfrm>
          <a:prstGeom prst="bentConnector3">
            <a:avLst/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232E83AB-49F7-6607-EEFA-224FCEB3E35F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5400000">
            <a:off x="3980187" y="4117600"/>
            <a:ext cx="1519321" cy="1789113"/>
          </a:xfrm>
          <a:prstGeom prst="bentConnector3">
            <a:avLst/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0A164A8-8808-19C1-F72E-9DA315FACB22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rot="16200000" flipH="1">
            <a:off x="5445456" y="4441443"/>
            <a:ext cx="1519321" cy="1141427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53C762E-5D09-52D1-13C5-2F6E131A4EFD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 rot="5400000">
            <a:off x="2768118" y="2905530"/>
            <a:ext cx="1519321" cy="4213252"/>
          </a:xfrm>
          <a:prstGeom prst="bentConnector3">
            <a:avLst/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528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BD2FA-AC96-BDE6-E669-8B6DF3BA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DCAA-C005-CF74-C3D3-60D024259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Routines Calling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B323A-5661-BF7E-563B-D26E9E99C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9"/>
            <a:ext cx="10515600" cy="892072"/>
          </a:xfrm>
        </p:spPr>
        <p:txBody>
          <a:bodyPr>
            <a:noAutofit/>
          </a:bodyPr>
          <a:lstStyle/>
          <a:p>
            <a:pPr marL="609608" indent="-609608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C00000"/>
                </a:solidFill>
              </a:rPr>
              <a:t>Can we make </a:t>
            </a:r>
            <a:r>
              <a:rPr lang="en-US" sz="2000" dirty="0" err="1">
                <a:solidFill>
                  <a:srgbClr val="C00000"/>
                </a:solidFill>
              </a:rPr>
              <a:t>make_patch</a:t>
            </a:r>
            <a:r>
              <a:rPr lang="en-US" sz="2000" dirty="0">
                <a:solidFill>
                  <a:srgbClr val="C00000"/>
                </a:solidFill>
              </a:rPr>
              <a:t>, </a:t>
            </a:r>
            <a:r>
              <a:rPr lang="en-US" sz="2000" dirty="0" err="1">
                <a:solidFill>
                  <a:srgbClr val="C00000"/>
                </a:solidFill>
              </a:rPr>
              <a:t>plot_patch</a:t>
            </a:r>
            <a:r>
              <a:rPr lang="en-US" sz="2000" dirty="0">
                <a:solidFill>
                  <a:srgbClr val="C00000"/>
                </a:solidFill>
              </a:rPr>
              <a:t>, and make_contours_CH4_patch all the same level of call and call them in sequence?</a:t>
            </a:r>
          </a:p>
          <a:p>
            <a:pPr marL="609608" indent="-609608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C00000"/>
                </a:solidFill>
              </a:rPr>
              <a:t>Can we set the color table for the map and scatter to “Blues” rather than greys</a:t>
            </a:r>
          </a:p>
          <a:p>
            <a:pPr marL="609608" indent="-609608"/>
            <a:r>
              <a:rPr lang="en-US" sz="2000" dirty="0">
                <a:solidFill>
                  <a:srgbClr val="C00000"/>
                </a:solidFill>
              </a:rPr>
              <a:t>Can we provide an alternative that over plots in red and black only the most extreme contours of fNH3 and </a:t>
            </a:r>
            <a:r>
              <a:rPr lang="en-US" sz="2000" dirty="0" err="1">
                <a:solidFill>
                  <a:srgbClr val="C00000"/>
                </a:solidFill>
              </a:rPr>
              <a:t>PCld</a:t>
            </a:r>
            <a:r>
              <a:rPr lang="en-US" sz="2000" dirty="0">
                <a:solidFill>
                  <a:srgbClr val="C00000"/>
                </a:solidFill>
              </a:rPr>
              <a:t>? This would match what was developed for the EPSC abstract in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7EE994-A3CD-1C1C-3160-431F91E5182C}"/>
              </a:ext>
            </a:extLst>
          </p:cNvPr>
          <p:cNvSpPr/>
          <p:nvPr/>
        </p:nvSpPr>
        <p:spPr>
          <a:xfrm>
            <a:off x="860008" y="5111231"/>
            <a:ext cx="1502414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make_patch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B85808-5977-0C23-0630-92847C854DB5}"/>
              </a:ext>
            </a:extLst>
          </p:cNvPr>
          <p:cNvSpPr/>
          <p:nvPr/>
        </p:nvSpPr>
        <p:spPr>
          <a:xfrm>
            <a:off x="4133152" y="5111231"/>
            <a:ext cx="3170500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plot_contours_on_patch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B9DECD-5612-B648-295A-8D8E6C1CC322}"/>
              </a:ext>
            </a:extLst>
          </p:cNvPr>
          <p:cNvSpPr/>
          <p:nvPr/>
        </p:nvSpPr>
        <p:spPr>
          <a:xfrm>
            <a:off x="2585161" y="5111231"/>
            <a:ext cx="1325252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plot_patch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A2653E-BC75-6071-CBCC-B8988E179974}"/>
              </a:ext>
            </a:extLst>
          </p:cNvPr>
          <p:cNvSpPr/>
          <p:nvPr/>
        </p:nvSpPr>
        <p:spPr>
          <a:xfrm>
            <a:off x="4888349" y="3429000"/>
            <a:ext cx="2415303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map_and_scatter</a:t>
            </a:r>
            <a:endParaRPr lang="en-US" dirty="0"/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5621AB90-0B5B-9723-D6F9-047E5E3301BD}"/>
              </a:ext>
            </a:extLst>
          </p:cNvPr>
          <p:cNvCxnSpPr>
            <a:cxnSpLocks/>
            <a:stCxn id="21" idx="2"/>
            <a:endCxn id="4" idx="0"/>
          </p:cNvCxnSpPr>
          <p:nvPr/>
        </p:nvCxnSpPr>
        <p:spPr>
          <a:xfrm rot="5400000">
            <a:off x="5365541" y="4380770"/>
            <a:ext cx="1083326" cy="377598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FA9549E7-5FF0-146C-4DA6-726B2C221A4D}"/>
              </a:ext>
            </a:extLst>
          </p:cNvPr>
          <p:cNvSpPr/>
          <p:nvPr/>
        </p:nvSpPr>
        <p:spPr>
          <a:xfrm>
            <a:off x="7537200" y="5111231"/>
            <a:ext cx="2057166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plot_roi_scatter</a:t>
            </a:r>
            <a:endParaRPr lang="en-US" dirty="0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D223F6C3-F941-540B-C7DC-1F7348605330}"/>
              </a:ext>
            </a:extLst>
          </p:cNvPr>
          <p:cNvSpPr/>
          <p:nvPr/>
        </p:nvSpPr>
        <p:spPr>
          <a:xfrm>
            <a:off x="9763740" y="5111231"/>
            <a:ext cx="2011122" cy="59890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plot_map_scatter</a:t>
            </a:r>
            <a:endParaRPr lang="en-US" dirty="0"/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4F38CA7D-3690-6198-F6D7-8BC119CFB06B}"/>
              </a:ext>
            </a:extLst>
          </p:cNvPr>
          <p:cNvCxnSpPr>
            <a:cxnSpLocks/>
            <a:stCxn id="21" idx="2"/>
            <a:endCxn id="143" idx="0"/>
          </p:cNvCxnSpPr>
          <p:nvPr/>
        </p:nvCxnSpPr>
        <p:spPr>
          <a:xfrm rot="16200000" flipH="1">
            <a:off x="6789230" y="3334676"/>
            <a:ext cx="1083326" cy="2469783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6B3DC452-8483-0B15-DD87-C9397CEE080A}"/>
              </a:ext>
            </a:extLst>
          </p:cNvPr>
          <p:cNvCxnSpPr>
            <a:cxnSpLocks/>
            <a:stCxn id="21" idx="2"/>
            <a:endCxn id="144" idx="0"/>
          </p:cNvCxnSpPr>
          <p:nvPr/>
        </p:nvCxnSpPr>
        <p:spPr>
          <a:xfrm rot="16200000" flipH="1">
            <a:off x="7890990" y="2232917"/>
            <a:ext cx="1083326" cy="4673301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F231C78-7042-D3B0-5340-0309E59392E3}"/>
              </a:ext>
            </a:extLst>
          </p:cNvPr>
          <p:cNvCxnSpPr>
            <a:cxnSpLocks/>
            <a:stCxn id="21" idx="2"/>
            <a:endCxn id="5" idx="0"/>
          </p:cNvCxnSpPr>
          <p:nvPr/>
        </p:nvCxnSpPr>
        <p:spPr>
          <a:xfrm rot="5400000">
            <a:off x="4130233" y="3145460"/>
            <a:ext cx="1083326" cy="2848214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550BD9A-483B-9318-1DC5-F64571E67730}"/>
              </a:ext>
            </a:extLst>
          </p:cNvPr>
          <p:cNvCxnSpPr>
            <a:cxnSpLocks/>
            <a:stCxn id="21" idx="2"/>
            <a:endCxn id="6" idx="0"/>
          </p:cNvCxnSpPr>
          <p:nvPr/>
        </p:nvCxnSpPr>
        <p:spPr>
          <a:xfrm rot="5400000">
            <a:off x="3311947" y="2327174"/>
            <a:ext cx="1083326" cy="4484786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0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7396</TotalTime>
  <Words>2086</Words>
  <Application>Microsoft Office PowerPoint</Application>
  <PresentationFormat>Widescreen</PresentationFormat>
  <Paragraphs>169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Courier New</vt:lpstr>
      <vt:lpstr>Wingdings</vt:lpstr>
      <vt:lpstr>Office Theme</vt:lpstr>
      <vt:lpstr>Visualization and Analysis Project</vt:lpstr>
      <vt:lpstr>Map Visualization</vt:lpstr>
      <vt:lpstr>Meridional and Zonal Analysis</vt:lpstr>
      <vt:lpstr>Local Extrema</vt:lpstr>
      <vt:lpstr>Region of Interest Analysis</vt:lpstr>
      <vt:lpstr>Threshold Segmentation</vt:lpstr>
      <vt:lpstr>ML Analysis</vt:lpstr>
      <vt:lpstr>Top-Level Calling Script</vt:lpstr>
      <vt:lpstr>Basic Plot Products</vt:lpstr>
      <vt:lpstr>Top-Level Calling Script</vt:lpstr>
      <vt:lpstr>Top-Level Calling Script</vt:lpstr>
      <vt:lpstr>Full Module Listing (1/3)</vt:lpstr>
      <vt:lpstr>Full Module Listing (2/3)</vt:lpstr>
      <vt:lpstr>Full Module Listing (3/3)</vt:lpstr>
      <vt:lpstr>Map Routines Calling Trees</vt:lpstr>
      <vt:lpstr>Map Routines Calling Trees</vt:lpstr>
      <vt:lpstr>Map Routines Calling Trees</vt:lpstr>
      <vt:lpstr>Map Routines Calling Trees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Hill</dc:creator>
  <cp:lastModifiedBy>Steven Hill</cp:lastModifiedBy>
  <cp:revision>91</cp:revision>
  <dcterms:created xsi:type="dcterms:W3CDTF">2025-09-30T02:11:15Z</dcterms:created>
  <dcterms:modified xsi:type="dcterms:W3CDTF">2026-04-28T04:18:24Z</dcterms:modified>
</cp:coreProperties>
</file>