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5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D06E-B6C5-C2A2-995D-949145F0C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CA40F-8783-DBCA-EAD7-B9A57FC6F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89677-1DF8-9F6F-CA54-10DD3EE31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93ED3-FA46-B8A4-01E7-C3AB30F1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84498-5F41-74D3-13A3-D99E3ED7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4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6746-CA18-7DE4-6757-4358D2C4D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A3003-357C-C122-839E-61C6A8461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301C4-C552-3AA0-3DE0-3145F28F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889FB-C43E-0E93-3F2B-F5CC48CD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06554-56AF-4502-0191-48FF4F5B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7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D6E9F-ECD1-294A-C7B9-8B61B22A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857E2-8B5F-B7B6-E47D-6F75B5A3B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8F6B-E09A-0D84-A783-F8435FF1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C0840-5430-B46F-ACC7-5D3862CC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7C4CB-1636-E02F-EFB3-18DE7924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0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33A2-53A6-0F7E-FF4A-C63B7B2EF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82A75-07DB-6C12-E556-3E6EBEE7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02678-ACE9-572D-DD49-CC8E162DE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B630D-C5A1-E9DE-10BE-96418FD8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403B2-4C98-F90D-DEF5-0CCF8B15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14C25-9D07-B777-AC29-63F8F6E5B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3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3A7B6-088A-E25F-0EE5-1ECD8AC25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36419-1835-DB6C-9DEB-EF7C9DE55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E39CA-742D-1F7A-11A8-B24075785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3F4B29-2219-AC7B-15D0-F5D4FAAE4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6F2703-4D77-C072-47AD-D21A9CA8C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86EFD7-D9A5-580D-936D-68453AD3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C64D3E-D902-C171-59AE-F1AE708D2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4C42F6-6763-C4AA-E8E9-17E5042A7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34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7A5B-FF62-CEDC-94B9-348951447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2374AE-15D4-B0BD-6B58-726BFEF64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48E66-4986-3ED5-F506-65217DFB6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7D663-793B-B3BB-EF09-4BD11E14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1C68A-135A-8674-D71D-195C29F7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DCDE1-5F6C-5853-0EBF-B53A1F93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69463-4B97-616F-D37A-2D1E1744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AE67-84CE-B2A5-81FA-DA7F86763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85E8-4FA3-8A65-BEE7-8B1EAF46D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E65A3-B3C5-6347-488B-2CC273816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0EDE6-7E47-5F2E-79DF-CA0F178D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700FB-E76D-F02E-E7E8-876259E04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D0CDD-A0DD-9102-7626-AE3923E1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5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3F66-098F-A4E1-0626-CD127DFE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AFE4A-B9DB-C6A5-F48C-324CE1D5B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4F94A-BC4C-E88B-8F08-BF4ABCE8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33E8C-4977-14DD-C2D2-5096D8204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FCE99-457A-C0A1-89F5-7F5429C57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1C6AC-42D5-76C9-E57B-26915D43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08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2D4E4-430C-A3AC-206E-6A60ACBDC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CF057-CDC0-BA14-1073-61F7E16DB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FE65A-331B-50BF-00D1-9EEDA9E8F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1CD82-7949-B871-207D-A0CA177E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77E7C-73CD-DD63-47D5-18588D64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7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A6FA8A-9FEE-49F3-7F37-5601A7D00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BCD43-DBCB-352F-CB9F-C65DA0F76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86B1-B08D-8C11-0059-C303560DB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55204-DEBB-EFC3-3931-2A3E19C6B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1C434-5589-A7A7-CD17-DAD3ABAB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4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BA910A-6249-781A-327F-63FBEAF7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DC16F-9907-2575-ACAE-00574C7A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DEE18-8E1E-3CB4-FEB8-77B54DE0E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69717-C4CA-408A-8391-909CAE87710A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889DD-367A-2599-A010-255B88068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E8A23-1939-A5FA-935E-9F6A5FA4B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7B23A-1261-4923-A850-570549519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08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: Top Corners Rounded 80">
            <a:extLst>
              <a:ext uri="{FF2B5EF4-FFF2-40B4-BE49-F238E27FC236}">
                <a16:creationId xmlns:a16="http://schemas.microsoft.com/office/drawing/2014/main" id="{9D03E44E-E3B2-8A67-FCA9-A2C1043B93E9}"/>
              </a:ext>
            </a:extLst>
          </p:cNvPr>
          <p:cNvSpPr/>
          <p:nvPr/>
        </p:nvSpPr>
        <p:spPr>
          <a:xfrm>
            <a:off x="5951293" y="478969"/>
            <a:ext cx="1245325" cy="20029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Resid vs Correl</a:t>
            </a:r>
            <a:endParaRPr 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0BDA084-15B0-2F6A-CBF1-00B3C2FE413A}"/>
              </a:ext>
            </a:extLst>
          </p:cNvPr>
          <p:cNvSpPr/>
          <p:nvPr/>
        </p:nvSpPr>
        <p:spPr>
          <a:xfrm>
            <a:off x="3257005" y="679266"/>
            <a:ext cx="5550414" cy="35879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78BED-77FF-21BA-B265-F2D9188BFF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8" r="3551"/>
          <a:stretch>
            <a:fillRect/>
          </a:stretch>
        </p:blipFill>
        <p:spPr>
          <a:xfrm>
            <a:off x="3532166" y="1027734"/>
            <a:ext cx="5058716" cy="300856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77F5D86-0E6C-D8FE-EF37-AA325F232CB0}"/>
              </a:ext>
            </a:extLst>
          </p:cNvPr>
          <p:cNvGrpSpPr/>
          <p:nvPr/>
        </p:nvGrpSpPr>
        <p:grpSpPr>
          <a:xfrm>
            <a:off x="8872627" y="1396884"/>
            <a:ext cx="926925" cy="153888"/>
            <a:chOff x="7973751" y="2246162"/>
            <a:chExt cx="926925" cy="1538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A0DB83-3089-EAA6-ECA2-BBDC1939FA41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AD9937-12AA-D28E-6AD8-C344005C6E2A}"/>
                </a:ext>
              </a:extLst>
            </p:cNvPr>
            <p:cNvSpPr txBox="1"/>
            <p:nvPr/>
          </p:nvSpPr>
          <p:spPr>
            <a:xfrm>
              <a:off x="8176119" y="2246162"/>
              <a:ext cx="724557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Giles++ 2017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56A8E08-32F5-9F39-3D34-94182502D914}"/>
              </a:ext>
            </a:extLst>
          </p:cNvPr>
          <p:cNvSpPr txBox="1"/>
          <p:nvPr/>
        </p:nvSpPr>
        <p:spPr>
          <a:xfrm>
            <a:off x="8872627" y="1119913"/>
            <a:ext cx="119584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/>
              <a:t>Comparison Profiles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EE525A-5E98-D1E0-5873-2988EDC892F5}"/>
              </a:ext>
            </a:extLst>
          </p:cNvPr>
          <p:cNvGrpSpPr/>
          <p:nvPr/>
        </p:nvGrpSpPr>
        <p:grpSpPr>
          <a:xfrm>
            <a:off x="8872627" y="1619521"/>
            <a:ext cx="1100050" cy="153888"/>
            <a:chOff x="7973751" y="2246162"/>
            <a:chExt cx="1100050" cy="15388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5E09604-ED9A-4CDC-96D9-2D429BE8516B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5360572-388C-A770-E7A4-83A12B66C7CB}"/>
                </a:ext>
              </a:extLst>
            </p:cNvPr>
            <p:cNvSpPr txBox="1"/>
            <p:nvPr/>
          </p:nvSpPr>
          <p:spPr>
            <a:xfrm>
              <a:off x="8176119" y="2246162"/>
              <a:ext cx="897682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Fletcher++ 2020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0E34792-D5B2-F143-202B-CC03EC37B714}"/>
              </a:ext>
            </a:extLst>
          </p:cNvPr>
          <p:cNvGrpSpPr/>
          <p:nvPr/>
        </p:nvGrpSpPr>
        <p:grpSpPr>
          <a:xfrm>
            <a:off x="8872627" y="1850109"/>
            <a:ext cx="1104859" cy="153888"/>
            <a:chOff x="7973751" y="2246162"/>
            <a:chExt cx="1104859" cy="1538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63C020B-8C31-B1CA-6507-B75E0D816038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C33B3B-A579-6699-1FA4-291CE93E10FD}"/>
                </a:ext>
              </a:extLst>
            </p:cNvPr>
            <p:cNvSpPr txBox="1"/>
            <p:nvPr/>
          </p:nvSpPr>
          <p:spPr>
            <a:xfrm>
              <a:off x="8176119" y="2246162"/>
              <a:ext cx="902491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 err="1"/>
                <a:t>Bjoraker</a:t>
              </a:r>
              <a:r>
                <a:rPr lang="en-US" sz="1000" dirty="0"/>
                <a:t>++ 2018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44E954-67CD-FC53-B8BD-C709C4E4FECE}"/>
              </a:ext>
            </a:extLst>
          </p:cNvPr>
          <p:cNvGrpSpPr/>
          <p:nvPr/>
        </p:nvGrpSpPr>
        <p:grpSpPr>
          <a:xfrm>
            <a:off x="8872627" y="2081940"/>
            <a:ext cx="774641" cy="153888"/>
            <a:chOff x="7973751" y="2246162"/>
            <a:chExt cx="774641" cy="15388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D292E7-DF77-9080-7C67-2325F6F5B8D1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51514A6-48EE-4597-316A-42A7C10EB3A9}"/>
                </a:ext>
              </a:extLst>
            </p:cNvPr>
            <p:cNvSpPr txBox="1"/>
            <p:nvPr/>
          </p:nvSpPr>
          <p:spPr>
            <a:xfrm>
              <a:off x="8176119" y="2246162"/>
              <a:ext cx="572273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Juno MWR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72A630-9C11-BDCA-1919-D5DDE5982A86}"/>
              </a:ext>
            </a:extLst>
          </p:cNvPr>
          <p:cNvGrpSpPr/>
          <p:nvPr/>
        </p:nvGrpSpPr>
        <p:grpSpPr>
          <a:xfrm>
            <a:off x="9074995" y="2303138"/>
            <a:ext cx="903245" cy="153888"/>
            <a:chOff x="7474003" y="2246162"/>
            <a:chExt cx="903245" cy="15388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E1D7C18-8FCF-49EE-9661-D27693746B47}"/>
                </a:ext>
              </a:extLst>
            </p:cNvPr>
            <p:cNvSpPr/>
            <p:nvPr/>
          </p:nvSpPr>
          <p:spPr>
            <a:xfrm>
              <a:off x="7997586" y="2254526"/>
              <a:ext cx="379662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0BC542-CABE-BE1F-1E15-10C11E099AF1}"/>
                </a:ext>
              </a:extLst>
            </p:cNvPr>
            <p:cNvSpPr txBox="1"/>
            <p:nvPr/>
          </p:nvSpPr>
          <p:spPr>
            <a:xfrm>
              <a:off x="7474003" y="2246162"/>
              <a:ext cx="476092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Min. Lat.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A16E39-6860-BC08-E388-30FE54B6D3E3}"/>
              </a:ext>
            </a:extLst>
          </p:cNvPr>
          <p:cNvGrpSpPr/>
          <p:nvPr/>
        </p:nvGrpSpPr>
        <p:grpSpPr>
          <a:xfrm>
            <a:off x="9074995" y="2503361"/>
            <a:ext cx="897682" cy="153888"/>
            <a:chOff x="7474003" y="2246162"/>
            <a:chExt cx="897682" cy="15388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08CCB72-1622-CB7D-E0F7-B6EF58EC693A}"/>
                </a:ext>
              </a:extLst>
            </p:cNvPr>
            <p:cNvSpPr/>
            <p:nvPr/>
          </p:nvSpPr>
          <p:spPr>
            <a:xfrm>
              <a:off x="7992023" y="2254526"/>
              <a:ext cx="379662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317975C-6E65-C748-8195-B30DA05F9361}"/>
                </a:ext>
              </a:extLst>
            </p:cNvPr>
            <p:cNvSpPr txBox="1"/>
            <p:nvPr/>
          </p:nvSpPr>
          <p:spPr>
            <a:xfrm>
              <a:off x="7474003" y="2246162"/>
              <a:ext cx="500137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Max. Lat.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90DD40F-4642-DAE9-DDD7-51AD5313C4DF}"/>
              </a:ext>
            </a:extLst>
          </p:cNvPr>
          <p:cNvSpPr txBox="1"/>
          <p:nvPr/>
        </p:nvSpPr>
        <p:spPr>
          <a:xfrm>
            <a:off x="8872627" y="900302"/>
            <a:ext cx="151163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/>
              <a:t>SCATTER PLOT OVERLAYS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93FC1D-0C49-E948-2E00-4A3787FFEC5A}"/>
              </a:ext>
            </a:extLst>
          </p:cNvPr>
          <p:cNvSpPr txBox="1"/>
          <p:nvPr/>
        </p:nvSpPr>
        <p:spPr>
          <a:xfrm>
            <a:off x="8872627" y="2751259"/>
            <a:ext cx="7373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/>
              <a:t>Cluster Data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5431C1C-330D-9B85-3C9E-4EEF83D39511}"/>
              </a:ext>
            </a:extLst>
          </p:cNvPr>
          <p:cNvGrpSpPr/>
          <p:nvPr/>
        </p:nvGrpSpPr>
        <p:grpSpPr>
          <a:xfrm>
            <a:off x="8872627" y="2980181"/>
            <a:ext cx="866011" cy="153888"/>
            <a:chOff x="7973751" y="2246162"/>
            <a:chExt cx="866011" cy="15388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988CA6A-359E-53C6-188E-88875DADDE8D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5F3C6A-15B5-6F11-F2E1-4BDAB1079594}"/>
                </a:ext>
              </a:extLst>
            </p:cNvPr>
            <p:cNvSpPr txBox="1"/>
            <p:nvPr/>
          </p:nvSpPr>
          <p:spPr>
            <a:xfrm>
              <a:off x="8176119" y="2246162"/>
              <a:ext cx="663643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ROI Ellipses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31FBCC0-930C-B55E-45A1-24082A3D7644}"/>
              </a:ext>
            </a:extLst>
          </p:cNvPr>
          <p:cNvGrpSpPr/>
          <p:nvPr/>
        </p:nvGrpSpPr>
        <p:grpSpPr>
          <a:xfrm>
            <a:off x="8872627" y="3212652"/>
            <a:ext cx="954177" cy="153888"/>
            <a:chOff x="7973751" y="2246162"/>
            <a:chExt cx="954177" cy="15388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934017C-8BA5-7FFA-2DAF-4BDB9DD3267D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6F14B8-173A-3C31-FA8D-0830DF765A9B}"/>
                </a:ext>
              </a:extLst>
            </p:cNvPr>
            <p:cNvSpPr txBox="1"/>
            <p:nvPr/>
          </p:nvSpPr>
          <p:spPr>
            <a:xfrm>
              <a:off x="8176119" y="2246162"/>
              <a:ext cx="75180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GMM Ellipses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A81C625-27F4-1A30-27A1-A166200D1059}"/>
              </a:ext>
            </a:extLst>
          </p:cNvPr>
          <p:cNvGrpSpPr/>
          <p:nvPr/>
        </p:nvGrpSpPr>
        <p:grpSpPr>
          <a:xfrm>
            <a:off x="8898914" y="3444679"/>
            <a:ext cx="1263594" cy="153888"/>
            <a:chOff x="7297922" y="2246162"/>
            <a:chExt cx="1263594" cy="15388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1189046-E474-D489-9E8D-72B54885C7CD}"/>
                </a:ext>
              </a:extLst>
            </p:cNvPr>
            <p:cNvSpPr/>
            <p:nvPr/>
          </p:nvSpPr>
          <p:spPr>
            <a:xfrm>
              <a:off x="8181854" y="2254526"/>
              <a:ext cx="379662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4288AE0-B09E-70C9-AD3D-F728DB935E8E}"/>
                </a:ext>
              </a:extLst>
            </p:cNvPr>
            <p:cNvSpPr txBox="1"/>
            <p:nvPr/>
          </p:nvSpPr>
          <p:spPr>
            <a:xfrm>
              <a:off x="7297922" y="2246162"/>
              <a:ext cx="828753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No. of Clusters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B96238-B05F-E6FF-6A3E-66A3A3E0E7C5}"/>
              </a:ext>
            </a:extLst>
          </p:cNvPr>
          <p:cNvGrpSpPr/>
          <p:nvPr/>
        </p:nvGrpSpPr>
        <p:grpSpPr>
          <a:xfrm>
            <a:off x="1750587" y="2906028"/>
            <a:ext cx="470070" cy="153888"/>
            <a:chOff x="7973751" y="2246162"/>
            <a:chExt cx="470070" cy="15388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B7CB0ED-949E-F678-A3C7-CC60E5CD2D55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E3EF9E-2609-CDBA-C61C-3A1DC83CEFB6}"/>
                </a:ext>
              </a:extLst>
            </p:cNvPr>
            <p:cNvSpPr txBox="1"/>
            <p:nvPr/>
          </p:nvSpPr>
          <p:spPr>
            <a:xfrm>
              <a:off x="8176119" y="2246162"/>
              <a:ext cx="267702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ROIs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5AF5013-8049-AB99-DD22-024B78DA18DF}"/>
              </a:ext>
            </a:extLst>
          </p:cNvPr>
          <p:cNvSpPr txBox="1"/>
          <p:nvPr/>
        </p:nvSpPr>
        <p:spPr>
          <a:xfrm>
            <a:off x="1750587" y="2629057"/>
            <a:ext cx="119584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/>
              <a:t>Comparison Profiles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A7E34D-D04C-670C-2D8F-C4F8EDAD6FFC}"/>
              </a:ext>
            </a:extLst>
          </p:cNvPr>
          <p:cNvGrpSpPr/>
          <p:nvPr/>
        </p:nvGrpSpPr>
        <p:grpSpPr>
          <a:xfrm>
            <a:off x="1750587" y="3128665"/>
            <a:ext cx="721741" cy="153888"/>
            <a:chOff x="7973751" y="2246162"/>
            <a:chExt cx="721741" cy="15388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E7392E6-6B8F-A1E2-3B99-4FA12ADA1F8F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87283F6-63E7-D61E-85FB-FA9A0AA33154}"/>
                </a:ext>
              </a:extLst>
            </p:cNvPr>
            <p:cNvSpPr txBox="1"/>
            <p:nvPr/>
          </p:nvSpPr>
          <p:spPr>
            <a:xfrm>
              <a:off x="8176119" y="2246162"/>
              <a:ext cx="519373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Contours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E1B7FC9-E5DE-64B0-5A8D-AB893CB45288}"/>
              </a:ext>
            </a:extLst>
          </p:cNvPr>
          <p:cNvGrpSpPr/>
          <p:nvPr/>
        </p:nvGrpSpPr>
        <p:grpSpPr>
          <a:xfrm>
            <a:off x="1750587" y="3359253"/>
            <a:ext cx="659224" cy="153888"/>
            <a:chOff x="7973751" y="2246162"/>
            <a:chExt cx="659224" cy="15388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882E242-CC02-EDCF-5C06-2EB848F8A8C8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021F0EA-3E9F-B3B3-2878-22E3AEEB5D1C}"/>
                </a:ext>
              </a:extLst>
            </p:cNvPr>
            <p:cNvSpPr txBox="1"/>
            <p:nvPr/>
          </p:nvSpPr>
          <p:spPr>
            <a:xfrm>
              <a:off x="8176119" y="2246162"/>
              <a:ext cx="456856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Extrema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2D5C3CE-01B3-3A89-0D14-2D785AE3ACC6}"/>
              </a:ext>
            </a:extLst>
          </p:cNvPr>
          <p:cNvGrpSpPr/>
          <p:nvPr/>
        </p:nvGrpSpPr>
        <p:grpSpPr>
          <a:xfrm>
            <a:off x="1750587" y="3591084"/>
            <a:ext cx="975015" cy="153888"/>
            <a:chOff x="7973751" y="2246162"/>
            <a:chExt cx="975015" cy="153888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87B7751-F007-B30E-529A-060034C16913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1C53153-7B0D-EFF8-E984-9643EBFEE712}"/>
                </a:ext>
              </a:extLst>
            </p:cNvPr>
            <p:cNvSpPr txBox="1"/>
            <p:nvPr/>
          </p:nvSpPr>
          <p:spPr>
            <a:xfrm>
              <a:off x="8176119" y="2246162"/>
              <a:ext cx="772647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Segmentation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07C1454-BC0D-2357-4D86-A00578D9BD25}"/>
              </a:ext>
            </a:extLst>
          </p:cNvPr>
          <p:cNvSpPr txBox="1"/>
          <p:nvPr/>
        </p:nvSpPr>
        <p:spPr>
          <a:xfrm>
            <a:off x="1750587" y="2409446"/>
            <a:ext cx="91531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/>
              <a:t>MAP OVERLAYS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184E2F0-C03F-AD1C-753F-59192AF42B22}"/>
              </a:ext>
            </a:extLst>
          </p:cNvPr>
          <p:cNvGrpSpPr/>
          <p:nvPr/>
        </p:nvGrpSpPr>
        <p:grpSpPr>
          <a:xfrm>
            <a:off x="1750587" y="3804269"/>
            <a:ext cx="495718" cy="153888"/>
            <a:chOff x="7973751" y="2246162"/>
            <a:chExt cx="495718" cy="153888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B176E1E-0840-2BC8-0EB0-2CCB7226B742}"/>
                </a:ext>
              </a:extLst>
            </p:cNvPr>
            <p:cNvSpPr/>
            <p:nvPr/>
          </p:nvSpPr>
          <p:spPr>
            <a:xfrm>
              <a:off x="7973751" y="2254526"/>
              <a:ext cx="137160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D46391E-D662-9A73-46DF-78F5836EE94D}"/>
                </a:ext>
              </a:extLst>
            </p:cNvPr>
            <p:cNvSpPr txBox="1"/>
            <p:nvPr/>
          </p:nvSpPr>
          <p:spPr>
            <a:xfrm>
              <a:off x="8176119" y="2246162"/>
              <a:ext cx="293350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GMM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2DAE0C9-FB67-F6AC-24DA-D1F120ACAED3}"/>
              </a:ext>
            </a:extLst>
          </p:cNvPr>
          <p:cNvGrpSpPr/>
          <p:nvPr/>
        </p:nvGrpSpPr>
        <p:grpSpPr>
          <a:xfrm>
            <a:off x="1776874" y="4036296"/>
            <a:ext cx="1263594" cy="153888"/>
            <a:chOff x="7297922" y="2246162"/>
            <a:chExt cx="1263594" cy="153888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6489560-344F-0820-C4CA-E999A843B2A3}"/>
                </a:ext>
              </a:extLst>
            </p:cNvPr>
            <p:cNvSpPr/>
            <p:nvPr/>
          </p:nvSpPr>
          <p:spPr>
            <a:xfrm>
              <a:off x="8181854" y="2254526"/>
              <a:ext cx="379662" cy="1371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ED640B4-CD24-AF57-E50A-43FECA0D2437}"/>
                </a:ext>
              </a:extLst>
            </p:cNvPr>
            <p:cNvSpPr txBox="1"/>
            <p:nvPr/>
          </p:nvSpPr>
          <p:spPr>
            <a:xfrm>
              <a:off x="7297922" y="2246162"/>
              <a:ext cx="828753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000" dirty="0"/>
                <a:t>No. of Clusters</a:t>
              </a:r>
            </a:p>
          </p:txBody>
        </p:sp>
      </p:grpSp>
      <p:sp>
        <p:nvSpPr>
          <p:cNvPr id="80" name="Rectangle: Top Corners Rounded 79">
            <a:extLst>
              <a:ext uri="{FF2B5EF4-FFF2-40B4-BE49-F238E27FC236}">
                <a16:creationId xmlns:a16="http://schemas.microsoft.com/office/drawing/2014/main" id="{D14F7678-3006-29EA-B9F6-6654640F817A}"/>
              </a:ext>
            </a:extLst>
          </p:cNvPr>
          <p:cNvSpPr/>
          <p:nvPr/>
        </p:nvSpPr>
        <p:spPr>
          <a:xfrm>
            <a:off x="4749581" y="478969"/>
            <a:ext cx="1245325" cy="20029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CI vs AOI</a:t>
            </a:r>
            <a:endParaRPr lang="en-US" sz="1200" baseline="-25000" dirty="0">
              <a:solidFill>
                <a:schemeClr val="tx1"/>
              </a:solidFill>
            </a:endParaRPr>
          </a:p>
        </p:txBody>
      </p: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9DD28370-A117-27EB-8F02-D7CD5B2AC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449443"/>
              </p:ext>
            </p:extLst>
          </p:nvPr>
        </p:nvGraphicFramePr>
        <p:xfrm>
          <a:off x="2471623" y="4534731"/>
          <a:ext cx="7267015" cy="1626843"/>
        </p:xfrm>
        <a:graphic>
          <a:graphicData uri="http://schemas.openxmlformats.org/drawingml/2006/table">
            <a:tbl>
              <a:tblPr/>
              <a:tblGrid>
                <a:gridCol w="514819">
                  <a:extLst>
                    <a:ext uri="{9D8B030D-6E8A-4147-A177-3AD203B41FA5}">
                      <a16:colId xmlns:a16="http://schemas.microsoft.com/office/drawing/2014/main" val="290781478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559513683"/>
                    </a:ext>
                  </a:extLst>
                </a:gridCol>
                <a:gridCol w="339634">
                  <a:extLst>
                    <a:ext uri="{9D8B030D-6E8A-4147-A177-3AD203B41FA5}">
                      <a16:colId xmlns:a16="http://schemas.microsoft.com/office/drawing/2014/main" val="1285178912"/>
                    </a:ext>
                  </a:extLst>
                </a:gridCol>
                <a:gridCol w="357051">
                  <a:extLst>
                    <a:ext uri="{9D8B030D-6E8A-4147-A177-3AD203B41FA5}">
                      <a16:colId xmlns:a16="http://schemas.microsoft.com/office/drawing/2014/main" val="3185393558"/>
                    </a:ext>
                  </a:extLst>
                </a:gridCol>
                <a:gridCol w="330926">
                  <a:extLst>
                    <a:ext uri="{9D8B030D-6E8A-4147-A177-3AD203B41FA5}">
                      <a16:colId xmlns:a16="http://schemas.microsoft.com/office/drawing/2014/main" val="2255991032"/>
                    </a:ext>
                  </a:extLst>
                </a:gridCol>
                <a:gridCol w="313509">
                  <a:extLst>
                    <a:ext uri="{9D8B030D-6E8A-4147-A177-3AD203B41FA5}">
                      <a16:colId xmlns:a16="http://schemas.microsoft.com/office/drawing/2014/main" val="4114432458"/>
                    </a:ext>
                  </a:extLst>
                </a:gridCol>
                <a:gridCol w="339634">
                  <a:extLst>
                    <a:ext uri="{9D8B030D-6E8A-4147-A177-3AD203B41FA5}">
                      <a16:colId xmlns:a16="http://schemas.microsoft.com/office/drawing/2014/main" val="1922330023"/>
                    </a:ext>
                  </a:extLst>
                </a:gridCol>
                <a:gridCol w="357051">
                  <a:extLst>
                    <a:ext uri="{9D8B030D-6E8A-4147-A177-3AD203B41FA5}">
                      <a16:colId xmlns:a16="http://schemas.microsoft.com/office/drawing/2014/main" val="759442068"/>
                    </a:ext>
                  </a:extLst>
                </a:gridCol>
                <a:gridCol w="339635">
                  <a:extLst>
                    <a:ext uri="{9D8B030D-6E8A-4147-A177-3AD203B41FA5}">
                      <a16:colId xmlns:a16="http://schemas.microsoft.com/office/drawing/2014/main" val="1670143364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196931964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592944410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669415813"/>
                    </a:ext>
                  </a:extLst>
                </a:gridCol>
                <a:gridCol w="592183">
                  <a:extLst>
                    <a:ext uri="{9D8B030D-6E8A-4147-A177-3AD203B41FA5}">
                      <a16:colId xmlns:a16="http://schemas.microsoft.com/office/drawing/2014/main" val="1242095490"/>
                    </a:ext>
                  </a:extLst>
                </a:gridCol>
                <a:gridCol w="1840562">
                  <a:extLst>
                    <a:ext uri="{9D8B030D-6E8A-4147-A177-3AD203B41FA5}">
                      <a16:colId xmlns:a16="http://schemas.microsoft.com/office/drawing/2014/main" val="4040329285"/>
                    </a:ext>
                  </a:extLst>
                </a:gridCol>
              </a:tblGrid>
              <a:tr h="8253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obs_id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dateobs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roilabel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nsamples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mean1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stdv1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mean2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stdv2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slope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intercept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r_value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p_value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std_err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cov_matrix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094405"/>
                  </a:ext>
                </a:extLst>
              </a:tr>
              <a:tr h="3040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20251016UTc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2025-10-16 3:01:29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All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180000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1869.4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230.0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202.8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 dirty="0">
                          <a:effectLst/>
                          <a:latin typeface="Arial" panose="020B0604020202020204" pitchFamily="34" charset="0"/>
                        </a:rPr>
                        <a:t>94.7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1.065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1653.3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0.439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0.0000000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0.0051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9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 dirty="0">
                          <a:effectLst/>
                          <a:latin typeface="Arial" panose="020B0604020202020204" pitchFamily="34" charset="0"/>
                        </a:rPr>
                        <a:t>[[52917.39528505 9556.47331587]</a:t>
                      </a:r>
                      <a:br>
                        <a:rPr lang="en-US" sz="60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600" dirty="0">
                          <a:effectLst/>
                          <a:latin typeface="Arial" panose="020B0604020202020204" pitchFamily="34" charset="0"/>
                        </a:rPr>
                        <a:t>[ 9556.47331587 8969.69384602]]</a:t>
                      </a:r>
                    </a:p>
                  </a:txBody>
                  <a:tcPr marL="0" marR="0" marT="7554" marB="7554" anchor="b">
                    <a:lnL w="6350" cap="flat" cmpd="sng" algn="ctr">
                      <a:solidFill>
                        <a:srgbClr val="009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9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B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A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913272"/>
                  </a:ext>
                </a:extLst>
              </a:tr>
              <a:tr h="3040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20251016UTc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2025-10-16 3:01:29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Hot Spot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1600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2555.9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114.5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295.9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 dirty="0">
                          <a:effectLst/>
                          <a:latin typeface="Arial" panose="020B0604020202020204" pitchFamily="34" charset="0"/>
                        </a:rPr>
                        <a:t>23.7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0.435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2427.0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0.090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0.0003097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0.1204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A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[[13115.11650713 244.35212806]</a:t>
                      </a:r>
                      <a:br>
                        <a:rPr lang="en-US" sz="60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[ 244.35212806 561.25832953]]</a:t>
                      </a:r>
                    </a:p>
                  </a:txBody>
                  <a:tcPr marL="0" marR="0" marT="7554" marB="7554" anchor="b">
                    <a:lnL w="6350" cap="flat" cmpd="sng" algn="ctr">
                      <a:solidFill>
                        <a:srgbClr val="20A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A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A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AC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7202"/>
                  </a:ext>
                </a:extLst>
              </a:tr>
              <a:tr h="3040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20251016UTc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2025-10-16 3:01:29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Gyre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4800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2161.1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123.5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344.4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22.2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-0.764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2424.4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-0.137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0.0000000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0.0797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AC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[[15255.8860011 -375.5043863]</a:t>
                      </a:r>
                      <a:br>
                        <a:rPr lang="en-US" sz="60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[ -375.5043863 491.2045526]]</a:t>
                      </a:r>
                    </a:p>
                  </a:txBody>
                  <a:tcPr marL="0" marR="0" marT="7554" marB="7554" anchor="b">
                    <a:lnL w="6350" cap="flat" cmpd="sng" algn="ctr">
                      <a:solidFill>
                        <a:srgbClr val="80AC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AC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AC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B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25056"/>
                  </a:ext>
                </a:extLst>
              </a:tr>
              <a:tr h="3040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20251016UTc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2025-10-16 3:01:29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Cloud Plume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4800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1719.6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118.7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230.0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28.2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0.352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1638.6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0.084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0.0000000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0.0606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[[14094.61015647 279.68908074]</a:t>
                      </a:r>
                      <a:br>
                        <a:rPr lang="en-US" sz="60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[ 279.68908074 794.47609748]]</a:t>
                      </a:r>
                    </a:p>
                  </a:txBody>
                  <a:tcPr marL="0" marR="0" marT="7554" marB="7554" anchor="b">
                    <a:lnL w="6350" cap="flat" cmpd="sng" algn="ctr">
                      <a:solidFill>
                        <a:srgbClr val="C0B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B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B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794309"/>
                  </a:ext>
                </a:extLst>
              </a:tr>
              <a:tr h="3040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 dirty="0">
                          <a:effectLst/>
                          <a:latin typeface="Arial" panose="020B0604020202020204" pitchFamily="34" charset="0"/>
                        </a:rPr>
                        <a:t>20251016UTc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2025-10-16 3:01:29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Reference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6400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1811.6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113.5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95.6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35.7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-0.018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1813.3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-0.006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0.6563441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600">
                          <a:effectLst/>
                          <a:latin typeface="Arial" panose="020B0604020202020204" pitchFamily="34" charset="0"/>
                        </a:rPr>
                        <a:t>0.0397</a:t>
                      </a:r>
                    </a:p>
                  </a:txBody>
                  <a:tcPr marL="11332" marR="11332" marT="7554" marB="7554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600" dirty="0">
                          <a:effectLst/>
                          <a:latin typeface="Arial" panose="020B0604020202020204" pitchFamily="34" charset="0"/>
                        </a:rPr>
                        <a:t>[[12877.6873732 -22.5693302 ]</a:t>
                      </a:r>
                      <a:br>
                        <a:rPr lang="en-US" sz="60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600" dirty="0">
                          <a:effectLst/>
                          <a:latin typeface="Arial" panose="020B0604020202020204" pitchFamily="34" charset="0"/>
                        </a:rPr>
                        <a:t>[ -22.5693302 1278.09241273]]</a:t>
                      </a:r>
                    </a:p>
                  </a:txBody>
                  <a:tcPr marL="0" marR="0" marT="7554" marB="7554" anchor="b">
                    <a:lnL w="6350" cap="flat" cmpd="sng" algn="ctr">
                      <a:solidFill>
                        <a:srgbClr val="A0B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991439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A4371832-9C3C-2585-241B-C830427A07E7}"/>
              </a:ext>
            </a:extLst>
          </p:cNvPr>
          <p:cNvSpPr txBox="1"/>
          <p:nvPr/>
        </p:nvSpPr>
        <p:spPr>
          <a:xfrm>
            <a:off x="5372244" y="4322768"/>
            <a:ext cx="65723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/>
              <a:t>DATA AREA</a:t>
            </a:r>
          </a:p>
        </p:txBody>
      </p:sp>
      <p:sp>
        <p:nvSpPr>
          <p:cNvPr id="79" name="Rectangle: Top Corners Rounded 78">
            <a:extLst>
              <a:ext uri="{FF2B5EF4-FFF2-40B4-BE49-F238E27FC236}">
                <a16:creationId xmlns:a16="http://schemas.microsoft.com/office/drawing/2014/main" id="{4A800CD8-2712-319E-FC4D-878D67922241}"/>
              </a:ext>
            </a:extLst>
          </p:cNvPr>
          <p:cNvSpPr/>
          <p:nvPr/>
        </p:nvSpPr>
        <p:spPr>
          <a:xfrm>
            <a:off x="3596640" y="478969"/>
            <a:ext cx="1245325" cy="20029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</a:t>
            </a:r>
            <a:r>
              <a:rPr lang="en-US" sz="1200" baseline="-25000" dirty="0">
                <a:solidFill>
                  <a:schemeClr val="tx1"/>
                </a:solidFill>
              </a:rPr>
              <a:t>NH3</a:t>
            </a:r>
            <a:r>
              <a:rPr lang="en-US" sz="1200" dirty="0">
                <a:solidFill>
                  <a:schemeClr val="tx1"/>
                </a:solidFill>
              </a:rPr>
              <a:t> vs </a:t>
            </a:r>
            <a:r>
              <a:rPr lang="en-US" sz="1200" dirty="0" err="1">
                <a:solidFill>
                  <a:schemeClr val="tx1"/>
                </a:solidFill>
              </a:rPr>
              <a:t>P</a:t>
            </a:r>
            <a:r>
              <a:rPr lang="en-US" sz="1200" baseline="-25000" dirty="0" err="1">
                <a:solidFill>
                  <a:schemeClr val="tx1"/>
                </a:solidFill>
              </a:rPr>
              <a:t>Cld</a:t>
            </a:r>
            <a:endParaRPr 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376B06C-90C0-64CB-4EA1-28188789DECA}"/>
              </a:ext>
            </a:extLst>
          </p:cNvPr>
          <p:cNvSpPr txBox="1"/>
          <p:nvPr/>
        </p:nvSpPr>
        <p:spPr>
          <a:xfrm>
            <a:off x="1750587" y="844704"/>
            <a:ext cx="139621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dirty="0"/>
              <a:t>DATA SET / STUDY AREA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5CA1C91-F2BA-A481-9456-93348D041BBF}"/>
              </a:ext>
            </a:extLst>
          </p:cNvPr>
          <p:cNvSpPr/>
          <p:nvPr/>
        </p:nvSpPr>
        <p:spPr>
          <a:xfrm>
            <a:off x="1750587" y="1054189"/>
            <a:ext cx="1396216" cy="173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20251016UTc NEZ-East</a:t>
            </a:r>
          </a:p>
        </p:txBody>
      </p:sp>
    </p:spTree>
    <p:extLst>
      <p:ext uri="{BB962C8B-B14F-4D97-AF65-F5344CB8AC3E}">
        <p14:creationId xmlns:p14="http://schemas.microsoft.com/office/powerpoint/2010/main" val="2409779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214</Words>
  <Application>Microsoft Office PowerPoint</Application>
  <PresentationFormat>Widescreen</PresentationFormat>
  <Paragraphs>110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Hill</dc:creator>
  <cp:lastModifiedBy>Steven Hill</cp:lastModifiedBy>
  <cp:revision>8</cp:revision>
  <dcterms:created xsi:type="dcterms:W3CDTF">2026-08-11T17:10:56Z</dcterms:created>
  <dcterms:modified xsi:type="dcterms:W3CDTF">2026-08-11T17:44:18Z</dcterms:modified>
</cp:coreProperties>
</file>